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64" r:id="rId3"/>
    <p:sldId id="261" r:id="rId4"/>
    <p:sldId id="257" r:id="rId5"/>
    <p:sldId id="262" r:id="rId6"/>
    <p:sldId id="263" r:id="rId7"/>
    <p:sldId id="265" r:id="rId8"/>
    <p:sldId id="266" r:id="rId9"/>
    <p:sldId id="267" r:id="rId10"/>
    <p:sldId id="268" r:id="rId11"/>
    <p:sldId id="269" r:id="rId12"/>
    <p:sldId id="270" r:id="rId13"/>
    <p:sldId id="272" r:id="rId14"/>
    <p:sldId id="271" r:id="rId15"/>
    <p:sldId id="273" r:id="rId16"/>
    <p:sldId id="274" r:id="rId17"/>
    <p:sldId id="275" r:id="rId18"/>
    <p:sldId id="276" r:id="rId19"/>
    <p:sldId id="277" r:id="rId20"/>
    <p:sldId id="278" r:id="rId21"/>
    <p:sldId id="27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78"/>
  </p:normalViewPr>
  <p:slideViewPr>
    <p:cSldViewPr snapToGrid="0">
      <p:cViewPr varScale="1">
        <p:scale>
          <a:sx n="139" d="100"/>
          <a:sy n="139" d="100"/>
        </p:scale>
        <p:origin x="2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0T20:13:32.7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1,'74'0,"1"0,-5 0,-8 0,-14 0,-13 0,-10 0,-5 2,0 0,0 2,0 1,-2-1,-2 1,-2-2,5 0,-7 0,7 0,-7 0,4-1,2 2,-4-3,4 1,-5-2,3 0,-1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00:34:59.2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36,'68'0,"-4"0,-19 0,-2 0,-5-2,-5 0,-2 0,2 1,4 1,5 0,1 0,-3 0,-2 0,-5 0,-6 0,-6 0,-6 0,-3 0,8 0,-5-1,7-1,-4-2,4 1,2-1,0 1,-2 0,-1 0,-2 1,0 0,-3 1,-1 1,7 0,-4 0,8 0,-7 0,-1 0,-3 0,0 0,1 0,1 0,0 0,-1 0,-2 0,3 0,-2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49ED9-702A-6568-0F50-19C0405214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C6743-3DA4-CB7D-BFB6-1A4617117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AB148-A733-0D7F-416E-4F0B3689A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ADC6-EB53-8D44-B9D9-598E5DD59B08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9F0B1-7888-4770-6687-A2335F952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BC350-6BB3-888E-2B07-91C22E5F6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47B8F-792A-9643-83D0-195BF3FF8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535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C4A78-21C7-F4B0-516D-D6761789A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81BBE-D5E8-37EE-417D-348ADAFEB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C6339-AAFF-09B6-1999-04314DE91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ADC6-EB53-8D44-B9D9-598E5DD59B08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72AD2-3689-FF1F-557B-09E548C62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F1FE7-BF32-CAA5-F661-C65E5E10C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47B8F-792A-9643-83D0-195BF3FF8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996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975B8-8E25-F980-6C35-8A51160F1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07F50-6224-DAB5-CDDE-A7BD61AD8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39845-2BB0-9E9A-5BAF-2BC935DA6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ADC6-EB53-8D44-B9D9-598E5DD59B08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CA16B-BCE9-87FF-F6CC-EFDF24E45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450F0-65A5-17A6-1814-805BD380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47B8F-792A-9643-83D0-195BF3FF8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099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EC260-A61E-9905-92E3-BB8A4C639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4989B-4DED-2075-21C1-3B939ACF5E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660698-183D-7B22-E0B1-A632EF997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D9727-5CF9-424F-B73B-FD0E65B3B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ADC6-EB53-8D44-B9D9-598E5DD59B08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DD370-12A7-C0DA-FCFB-D6D28C53C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DEC29-5343-F42D-CC9B-77CB3540A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47B8F-792A-9643-83D0-195BF3FF8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678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F8B80-DA5A-A905-55DA-1768DC14D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773CD-0446-40BC-C064-A90430958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03863-08D4-59C0-1812-069EDCACD7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5267D7-11C3-02FD-F628-4496B85B70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AD6183-F156-8E68-0C58-0ABEC4DB20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806407-6D91-A3EB-E59C-AEA0D43FD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ADC6-EB53-8D44-B9D9-598E5DD59B08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DAFEA3-431A-795E-3522-CCB9E64D8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27A69A-35C0-949F-EC5D-1D6EF0CE5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47B8F-792A-9643-83D0-195BF3FF8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44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9D1DC-C3D3-9AFE-DAEA-0DA4C473D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EEC504-39F8-76AD-9001-CFCAA0214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ADC6-EB53-8D44-B9D9-598E5DD59B08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5F93CC-445B-ADB1-81A3-3F875931E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ABA745-7F45-67B4-3F55-35D319EDB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47B8F-792A-9643-83D0-195BF3FF8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205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5AF8C3-9D74-FE75-9853-518DF064F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ADC6-EB53-8D44-B9D9-598E5DD59B08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5BBAD4-8ED4-B41C-23AD-74BF8BF0F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08C19-9B02-7429-5C8E-43100D65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47B8F-792A-9643-83D0-195BF3FF8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109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5FDDA-8C3C-2362-2EDD-0AC5084BD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1D58C-A1E7-680E-C168-02705859E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C9AF9D-4847-A5A9-0F5E-615D63766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4CACD-6BE5-EEC6-F85A-5FB7A3F13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ADC6-EB53-8D44-B9D9-598E5DD59B08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13E85-BA02-5349-2D4F-078058B68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DEADF-5FC2-ABAD-8F54-0CC35C0C5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47B8F-792A-9643-83D0-195BF3FF8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52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0B1CD-C40F-F48D-C627-E35634F55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922244-3774-D40D-D3C8-C67D4D7E06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426C5-B3A0-CDA3-6DBE-3CF3F6D7A8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1EE5A-38B2-31A9-55B0-0B40E277A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ADC6-EB53-8D44-B9D9-598E5DD59B08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3AE7FA-266F-CA92-9248-6030124F0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17093C-96B6-61E2-2B9E-5E0F038C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47B8F-792A-9643-83D0-195BF3FF8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85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687D6-5DFB-5466-FA7C-7DD239F8A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215DB5-A1E7-6BE2-B7E2-70D9BB39B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A07F4-2E7D-6957-79AE-08E1FF6A4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ADC6-EB53-8D44-B9D9-598E5DD59B08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44579-5C48-329D-EC4F-CECE89429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6426-6757-A92F-AD2C-EDD151DD5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47B8F-792A-9643-83D0-195BF3FF8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699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83B22E-4D07-AA23-1301-E526F53E5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D8D41-8279-7EEF-C16C-0CEB87F70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B2F9F-A12D-7D4B-49FC-945E5A978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ADC6-EB53-8D44-B9D9-598E5DD59B08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C5ED2-3214-051E-48E7-2D9AC612D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42107-57DF-6D1A-2C06-DD50D4D49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47B8F-792A-9643-83D0-195BF3FF8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987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457EE6-8E58-3A1E-B424-12E759342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5A8F4-0C26-FC9B-392F-A4F58D1B2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F3AFB-4976-B5D5-FBB9-D5FBEE94C3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DADC6-EB53-8D44-B9D9-598E5DD59B08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2B8EE-07D1-D49E-9E7E-EF3657F87B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DDFA9-EBCB-1E3A-C7FB-E66F811B1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47B8F-792A-9643-83D0-195BF3FF8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178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6C3D2E-0035-E199-62FF-3E24D0905857}"/>
              </a:ext>
            </a:extLst>
          </p:cNvPr>
          <p:cNvSpPr/>
          <p:nvPr/>
        </p:nvSpPr>
        <p:spPr>
          <a:xfrm>
            <a:off x="1113810" y="2960716"/>
            <a:ext cx="4036334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400" b="1" kern="1200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+mj-lt"/>
              <a:ea typeface="+mj-ea"/>
              <a:cs typeface="+mj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person pointing at a graph&#10;&#10;Description automatically generated">
            <a:extLst>
              <a:ext uri="{FF2B5EF4-FFF2-40B4-BE49-F238E27FC236}">
                <a16:creationId xmlns:a16="http://schemas.microsoft.com/office/drawing/2014/main" id="{76276617-F82C-6FBB-23FD-24316DAA0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423" y="666728"/>
            <a:ext cx="5370138" cy="546579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C4BF1C8-39B4-0B0F-43E9-30F1DFD4F45C}"/>
              </a:ext>
            </a:extLst>
          </p:cNvPr>
          <p:cNvSpPr/>
          <p:nvPr/>
        </p:nvSpPr>
        <p:spPr>
          <a:xfrm>
            <a:off x="-132182" y="2029060"/>
            <a:ext cx="6528326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Nickel Price Predicion </a:t>
            </a:r>
          </a:p>
          <a:p>
            <a:pPr algn="ctr"/>
            <a:r>
              <a:rPr lang="en-US" sz="5400" b="1" cap="none" spc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By LSTM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71490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26D6AE-351E-64A5-2A9D-E16427A78AC7}"/>
              </a:ext>
            </a:extLst>
          </p:cNvPr>
          <p:cNvSpPr txBox="1"/>
          <p:nvPr/>
        </p:nvSpPr>
        <p:spPr>
          <a:xfrm>
            <a:off x="341423" y="377691"/>
            <a:ext cx="80299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</a:rPr>
              <a:t>Background and Problem Definition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9A8565-5BBF-6445-6CDC-035491EC46CB}"/>
              </a:ext>
            </a:extLst>
          </p:cNvPr>
          <p:cNvSpPr txBox="1"/>
          <p:nvPr/>
        </p:nvSpPr>
        <p:spPr>
          <a:xfrm>
            <a:off x="341423" y="5649312"/>
            <a:ext cx="115457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Battery packs</a:t>
            </a:r>
            <a:r>
              <a:rPr lang="en-US" sz="2400" dirty="0"/>
              <a:t> make up over 30% of EV costs and rely mainly on nickel.</a:t>
            </a:r>
            <a:r>
              <a:rPr lang="ko-KR" altLang="en-US" sz="2400" dirty="0"/>
              <a:t> </a:t>
            </a:r>
            <a:endParaRPr lang="en-US" altLang="ko-KR" sz="2400" dirty="0"/>
          </a:p>
          <a:p>
            <a:pPr algn="ctr"/>
            <a:r>
              <a:rPr lang="en-US" sz="2400" dirty="0"/>
              <a:t>Rising </a:t>
            </a:r>
            <a:r>
              <a:rPr lang="en-US" sz="2400" b="1" dirty="0"/>
              <a:t>nickel prices </a:t>
            </a:r>
            <a:r>
              <a:rPr lang="en-US" sz="2400" dirty="0"/>
              <a:t>greatly cut EV profit margins.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6CE5DD7-B534-8EE9-D732-39394EA476FB}"/>
              </a:ext>
            </a:extLst>
          </p:cNvPr>
          <p:cNvGrpSpPr/>
          <p:nvPr/>
        </p:nvGrpSpPr>
        <p:grpSpPr>
          <a:xfrm>
            <a:off x="1790889" y="1408559"/>
            <a:ext cx="9077667" cy="3856216"/>
            <a:chOff x="1790889" y="1408559"/>
            <a:chExt cx="9077667" cy="385621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A5C496A-065A-7D13-1E73-DB6D638E8076}"/>
                </a:ext>
              </a:extLst>
            </p:cNvPr>
            <p:cNvGrpSpPr/>
            <p:nvPr/>
          </p:nvGrpSpPr>
          <p:grpSpPr>
            <a:xfrm>
              <a:off x="5558369" y="1602135"/>
              <a:ext cx="5310187" cy="3469064"/>
              <a:chOff x="1187899" y="1602135"/>
              <a:chExt cx="5310187" cy="3469064"/>
            </a:xfrm>
          </p:grpSpPr>
          <p:pic>
            <p:nvPicPr>
              <p:cNvPr id="1030" name="Picture 6" descr="Breaking Down the Cost of an EV Battery Cell">
                <a:extLst>
                  <a:ext uri="{FF2B5EF4-FFF2-40B4-BE49-F238E27FC236}">
                    <a16:creationId xmlns:a16="http://schemas.microsoft.com/office/drawing/2014/main" id="{9BA85CC1-EBE4-52EF-0F06-B986AC09623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1993" b="27423"/>
              <a:stretch/>
            </p:blipFill>
            <p:spPr bwMode="auto">
              <a:xfrm>
                <a:off x="1187899" y="1602135"/>
                <a:ext cx="5310187" cy="346906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9D657999-99BA-9454-B4DB-19E8A2E9BB29}"/>
                      </a:ext>
                    </a:extLst>
                  </p14:cNvPr>
                  <p14:cNvContentPartPr/>
                  <p14:nvPr/>
                </p14:nvContentPartPr>
                <p14:xfrm>
                  <a:off x="4997646" y="3066127"/>
                  <a:ext cx="248760" cy="17280"/>
                </p14:xfrm>
              </p:contentPart>
            </mc:Choice>
            <mc:Fallback xmlns=""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9D657999-99BA-9454-B4DB-19E8A2E9BB29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4943568" y="2955829"/>
                    <a:ext cx="356556" cy="237508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B467A86-C121-A3E9-3978-E0737123D4C9}"/>
                </a:ext>
              </a:extLst>
            </p:cNvPr>
            <p:cNvGrpSpPr/>
            <p:nvPr/>
          </p:nvGrpSpPr>
          <p:grpSpPr>
            <a:xfrm>
              <a:off x="1790889" y="1408559"/>
              <a:ext cx="3572820" cy="3856216"/>
              <a:chOff x="6874604" y="1408559"/>
              <a:chExt cx="3572820" cy="3856216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2A78267C-85C2-D390-3D53-4EB769A9D2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74604" y="1408559"/>
                <a:ext cx="3572820" cy="3856216"/>
              </a:xfrm>
              <a:prstGeom prst="rect">
                <a:avLst/>
              </a:prstGeom>
            </p:spPr>
          </p:pic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3" name="Ink 2">
                    <a:extLst>
                      <a:ext uri="{FF2B5EF4-FFF2-40B4-BE49-F238E27FC236}">
                        <a16:creationId xmlns:a16="http://schemas.microsoft.com/office/drawing/2014/main" id="{32E6F4E4-82CF-B6EB-FCC1-F0CD81F28462}"/>
                      </a:ext>
                    </a:extLst>
                  </p14:cNvPr>
                  <p14:cNvContentPartPr/>
                  <p14:nvPr/>
                </p14:nvContentPartPr>
                <p14:xfrm>
                  <a:off x="7069264" y="4882122"/>
                  <a:ext cx="419760" cy="13320"/>
                </p14:xfrm>
              </p:contentPart>
            </mc:Choice>
            <mc:Fallback xmlns="">
              <p:pic>
                <p:nvPicPr>
                  <p:cNvPr id="3" name="Ink 2">
                    <a:extLst>
                      <a:ext uri="{FF2B5EF4-FFF2-40B4-BE49-F238E27FC236}">
                        <a16:creationId xmlns:a16="http://schemas.microsoft.com/office/drawing/2014/main" id="{32E6F4E4-82CF-B6EB-FCC1-F0CD81F28462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7015264" y="4774482"/>
                    <a:ext cx="527400" cy="22896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173813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26D6AE-351E-64A5-2A9D-E16427A78AC7}"/>
              </a:ext>
            </a:extLst>
          </p:cNvPr>
          <p:cNvSpPr txBox="1"/>
          <p:nvPr/>
        </p:nvSpPr>
        <p:spPr>
          <a:xfrm>
            <a:off x="341423" y="377691"/>
            <a:ext cx="80299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</a:rPr>
              <a:t>Background and Problem Definition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9A8565-5BBF-6445-6CDC-035491EC46CB}"/>
              </a:ext>
            </a:extLst>
          </p:cNvPr>
          <p:cNvSpPr txBox="1"/>
          <p:nvPr/>
        </p:nvSpPr>
        <p:spPr>
          <a:xfrm>
            <a:off x="341423" y="5649312"/>
            <a:ext cx="115457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an accurate nickel </a:t>
            </a:r>
            <a:r>
              <a:rPr lang="en-US" sz="2400" b="1" dirty="0"/>
              <a:t>price prediction model</a:t>
            </a:r>
            <a:r>
              <a:rPr lang="en-US" sz="2400" dirty="0"/>
              <a:t> can aid </a:t>
            </a:r>
            <a:r>
              <a:rPr lang="en-US" sz="2400" b="1" dirty="0"/>
              <a:t>purchasing decisions</a:t>
            </a:r>
            <a:r>
              <a:rPr lang="en-US" sz="2400" dirty="0"/>
              <a:t> and</a:t>
            </a:r>
          </a:p>
          <a:p>
            <a:pPr algn="ctr"/>
            <a:r>
              <a:rPr lang="en-US" sz="2400" dirty="0"/>
              <a:t> </a:t>
            </a:r>
            <a:r>
              <a:rPr lang="en-US" sz="2400" b="1" dirty="0"/>
              <a:t>cost management</a:t>
            </a:r>
            <a:r>
              <a:rPr lang="en-US" sz="2400" dirty="0"/>
              <a:t> strategies for manufacturers.</a:t>
            </a:r>
          </a:p>
        </p:txBody>
      </p:sp>
      <p:pic>
        <p:nvPicPr>
          <p:cNvPr id="2050" name="Picture 2" descr="Stock Price forecasting in R programming using &quot;Prophet&quot;">
            <a:extLst>
              <a:ext uri="{FF2B5EF4-FFF2-40B4-BE49-F238E27FC236}">
                <a16:creationId xmlns:a16="http://schemas.microsoft.com/office/drawing/2014/main" id="{8CF47AFA-E64C-DA69-3759-36F36795B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218" y="1913964"/>
            <a:ext cx="5771564" cy="3030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8338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26D6AE-351E-64A5-2A9D-E16427A78AC7}"/>
              </a:ext>
            </a:extLst>
          </p:cNvPr>
          <p:cNvSpPr txBox="1"/>
          <p:nvPr/>
        </p:nvSpPr>
        <p:spPr>
          <a:xfrm>
            <a:off x="341423" y="377691"/>
            <a:ext cx="80299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</a:rPr>
              <a:t>Background and Problem Definition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9A8565-5BBF-6445-6CDC-035491EC46CB}"/>
              </a:ext>
            </a:extLst>
          </p:cNvPr>
          <p:cNvSpPr txBox="1"/>
          <p:nvPr/>
        </p:nvSpPr>
        <p:spPr>
          <a:xfrm>
            <a:off x="341423" y="5649312"/>
            <a:ext cx="115457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Why </a:t>
            </a:r>
            <a:r>
              <a:rPr lang="en-US" sz="2400" b="1" dirty="0"/>
              <a:t>Nickel</a:t>
            </a:r>
            <a:r>
              <a:rPr lang="en-US" sz="2400" dirty="0"/>
              <a:t>? Cobalt / Lithium / Manganese Market are new.</a:t>
            </a:r>
          </a:p>
          <a:p>
            <a:pPr algn="ctr"/>
            <a:r>
              <a:rPr lang="en-US" sz="2400" b="1" dirty="0"/>
              <a:t>NOT ENOUGH DATA TO TRAIN THE MODEL</a:t>
            </a:r>
            <a:r>
              <a:rPr lang="en-US" sz="2400" dirty="0"/>
              <a:t>.  </a:t>
            </a:r>
          </a:p>
        </p:txBody>
      </p:sp>
      <p:pic>
        <p:nvPicPr>
          <p:cNvPr id="8" name="Picture 2" descr="Confused man finding his data has been erased | Premium Vector">
            <a:extLst>
              <a:ext uri="{FF2B5EF4-FFF2-40B4-BE49-F238E27FC236}">
                <a16:creationId xmlns:a16="http://schemas.microsoft.com/office/drawing/2014/main" id="{765BC1F5-1E72-E972-EF0D-F39CFC96A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251" y="1609081"/>
            <a:ext cx="4119880" cy="3455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7312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26D6AE-351E-64A5-2A9D-E16427A78AC7}"/>
              </a:ext>
            </a:extLst>
          </p:cNvPr>
          <p:cNvSpPr txBox="1"/>
          <p:nvPr/>
        </p:nvSpPr>
        <p:spPr>
          <a:xfrm>
            <a:off x="341423" y="377691"/>
            <a:ext cx="80299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effectLst/>
                <a:latin typeface="Times New Roman" panose="02020603050405020304" pitchFamily="18" charset="0"/>
              </a:rPr>
              <a:t>Research Question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9A8565-5BBF-6445-6CDC-035491EC46CB}"/>
              </a:ext>
            </a:extLst>
          </p:cNvPr>
          <p:cNvSpPr txBox="1"/>
          <p:nvPr/>
        </p:nvSpPr>
        <p:spPr>
          <a:xfrm>
            <a:off x="752903" y="5620355"/>
            <a:ext cx="115457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dirty="0">
                <a:effectLst/>
                <a:latin typeface="Times New Roman" panose="02020603050405020304" pitchFamily="18" charset="0"/>
              </a:rPr>
              <a:t>Can </a:t>
            </a:r>
            <a:r>
              <a:rPr lang="en-US" sz="2400" dirty="0">
                <a:latin typeface="Times New Roman" panose="02020603050405020304" pitchFamily="18" charset="0"/>
              </a:rPr>
              <a:t>LSTM model </a:t>
            </a:r>
            <a:r>
              <a:rPr lang="en-US" sz="2400" b="0" i="0" dirty="0">
                <a:effectLst/>
                <a:latin typeface="Times New Roman" panose="02020603050405020304" pitchFamily="18" charset="0"/>
              </a:rPr>
              <a:t>predict monthly nickel prices using historical economic indicators?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1C26E5A-365D-4723-F1AA-9D452C29B5F0}"/>
              </a:ext>
            </a:extLst>
          </p:cNvPr>
          <p:cNvGrpSpPr/>
          <p:nvPr/>
        </p:nvGrpSpPr>
        <p:grpSpPr>
          <a:xfrm>
            <a:off x="457201" y="2782668"/>
            <a:ext cx="3360420" cy="830997"/>
            <a:chOff x="514350" y="2267668"/>
            <a:chExt cx="5581650" cy="1294166"/>
          </a:xfrm>
        </p:grpSpPr>
        <p:pic>
          <p:nvPicPr>
            <p:cNvPr id="5" name="Picture 6" descr="Mastering Time Series Analysis: Forecasting with ARIMA and SARIMA in Python  — A Comprehensive Beginner's Guide | by Mala Deep | Towards AI">
              <a:extLst>
                <a:ext uri="{FF2B5EF4-FFF2-40B4-BE49-F238E27FC236}">
                  <a16:creationId xmlns:a16="http://schemas.microsoft.com/office/drawing/2014/main" id="{1F4CBE1C-E3D9-8BDC-7A08-48FAF26BE3A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50" t="44098" r="19657" b="26326"/>
            <a:stretch/>
          </p:blipFill>
          <p:spPr bwMode="auto">
            <a:xfrm>
              <a:off x="514350" y="2267668"/>
              <a:ext cx="5581650" cy="1161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Mastering Time Series Analysis: Forecasting with ARIMA and SARIMA in Python  — A Comprehensive Beginner's Guide | by Mala Deep | Towards AI">
              <a:extLst>
                <a:ext uri="{FF2B5EF4-FFF2-40B4-BE49-F238E27FC236}">
                  <a16:creationId xmlns:a16="http://schemas.microsoft.com/office/drawing/2014/main" id="{8A189D9F-858F-CEDF-A348-0147D936C57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195" t="49998" r="45148" b="42724"/>
            <a:stretch/>
          </p:blipFill>
          <p:spPr bwMode="auto">
            <a:xfrm>
              <a:off x="3840480" y="2267668"/>
              <a:ext cx="228600" cy="317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Mastering Time Series Analysis: Forecasting with ARIMA and SARIMA in Python  — A Comprehensive Beginner's Guide | by Mala Deep | Towards AI">
              <a:extLst>
                <a:ext uri="{FF2B5EF4-FFF2-40B4-BE49-F238E27FC236}">
                  <a16:creationId xmlns:a16="http://schemas.microsoft.com/office/drawing/2014/main" id="{49A44121-A4CD-FD7B-1594-12200D4BE39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195" t="49998" r="45148" b="42724"/>
            <a:stretch/>
          </p:blipFill>
          <p:spPr bwMode="auto">
            <a:xfrm>
              <a:off x="4933950" y="2267668"/>
              <a:ext cx="228600" cy="317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Mastering Time Series Analysis: Forecasting with ARIMA and SARIMA in Python  — A Comprehensive Beginner's Guide | by Mala Deep | Towards AI">
              <a:extLst>
                <a:ext uri="{FF2B5EF4-FFF2-40B4-BE49-F238E27FC236}">
                  <a16:creationId xmlns:a16="http://schemas.microsoft.com/office/drawing/2014/main" id="{047EB181-C2FB-A247-36DF-CDCCE8BCFBD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195" t="49998" r="45148" b="42724"/>
            <a:stretch/>
          </p:blipFill>
          <p:spPr bwMode="auto">
            <a:xfrm flipH="1">
              <a:off x="4356374" y="3244334"/>
              <a:ext cx="228600" cy="317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4" name="Picture 10" descr="LSTM Recurrent Neural Networks - How to Teach a Network to Remember the  Past | Towards Data Science">
            <a:extLst>
              <a:ext uri="{FF2B5EF4-FFF2-40B4-BE49-F238E27FC236}">
                <a16:creationId xmlns:a16="http://schemas.microsoft.com/office/drawing/2014/main" id="{4DCC3DB9-AA9B-B2C7-BA2D-388FEDA69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523" y="1528976"/>
            <a:ext cx="3880359" cy="3253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XGBoost Regression In Depth. Explore everything about xgboost… | by  Fraidoon Omarzai | Artificial Intelligence in Plain English">
            <a:extLst>
              <a:ext uri="{FF2B5EF4-FFF2-40B4-BE49-F238E27FC236}">
                <a16:creationId xmlns:a16="http://schemas.microsoft.com/office/drawing/2014/main" id="{DF964DB8-3EF8-E265-3F6B-A5E4E41DE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1326" y="2218259"/>
            <a:ext cx="3332480" cy="1874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Multiply 15">
            <a:extLst>
              <a:ext uri="{FF2B5EF4-FFF2-40B4-BE49-F238E27FC236}">
                <a16:creationId xmlns:a16="http://schemas.microsoft.com/office/drawing/2014/main" id="{4D0A1DA2-EAAC-E368-2770-9FADC9506994}"/>
              </a:ext>
            </a:extLst>
          </p:cNvPr>
          <p:cNvSpPr/>
          <p:nvPr/>
        </p:nvSpPr>
        <p:spPr>
          <a:xfrm>
            <a:off x="8337585" y="1621259"/>
            <a:ext cx="3399962" cy="3068520"/>
          </a:xfrm>
          <a:prstGeom prst="mathMultiply">
            <a:avLst>
              <a:gd name="adj1" fmla="val 1885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Multiply 16">
            <a:extLst>
              <a:ext uri="{FF2B5EF4-FFF2-40B4-BE49-F238E27FC236}">
                <a16:creationId xmlns:a16="http://schemas.microsoft.com/office/drawing/2014/main" id="{B92C2C8F-4DF6-B304-9804-D2EBC3965801}"/>
              </a:ext>
            </a:extLst>
          </p:cNvPr>
          <p:cNvSpPr/>
          <p:nvPr/>
        </p:nvSpPr>
        <p:spPr>
          <a:xfrm>
            <a:off x="341423" y="1713542"/>
            <a:ext cx="3399962" cy="3068520"/>
          </a:xfrm>
          <a:prstGeom prst="mathMultiply">
            <a:avLst>
              <a:gd name="adj1" fmla="val 1885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901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26D6AE-351E-64A5-2A9D-E16427A78AC7}"/>
              </a:ext>
            </a:extLst>
          </p:cNvPr>
          <p:cNvSpPr txBox="1"/>
          <p:nvPr/>
        </p:nvSpPr>
        <p:spPr>
          <a:xfrm>
            <a:off x="341423" y="377691"/>
            <a:ext cx="80299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>
                <a:effectLst/>
                <a:latin typeface="Times New Roman" panose="02020603050405020304" pitchFamily="18" charset="0"/>
              </a:rPr>
              <a:t>Methodology</a:t>
            </a:r>
            <a:endParaRPr lang="en-US" sz="3600" b="1" i="0" dirty="0">
              <a:effectLst/>
              <a:latin typeface="Times New Roman" panose="02020603050405020304" pitchFamily="18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C3991C3-D7F9-CC01-F7AE-4DBBDCC71030}"/>
              </a:ext>
            </a:extLst>
          </p:cNvPr>
          <p:cNvGrpSpPr/>
          <p:nvPr/>
        </p:nvGrpSpPr>
        <p:grpSpPr>
          <a:xfrm>
            <a:off x="872358" y="2902398"/>
            <a:ext cx="10279622" cy="1291230"/>
            <a:chOff x="872358" y="2902398"/>
            <a:chExt cx="10279622" cy="1291230"/>
          </a:xfrm>
        </p:grpSpPr>
        <p:pic>
          <p:nvPicPr>
            <p:cNvPr id="5" name="Picture 4" descr="time-series forecasting process. | Download Scientific Diagram">
              <a:extLst>
                <a:ext uri="{FF2B5EF4-FFF2-40B4-BE49-F238E27FC236}">
                  <a16:creationId xmlns:a16="http://schemas.microsoft.com/office/drawing/2014/main" id="{FE21A456-B3AB-B053-E61E-1B571F0E41B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84" t="39728" r="68157" b="36361"/>
            <a:stretch/>
          </p:blipFill>
          <p:spPr bwMode="auto">
            <a:xfrm>
              <a:off x="872358" y="2942896"/>
              <a:ext cx="1483794" cy="11666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84A3717-084D-863A-7E80-C78B1FC7AA28}"/>
                </a:ext>
              </a:extLst>
            </p:cNvPr>
            <p:cNvGrpSpPr/>
            <p:nvPr/>
          </p:nvGrpSpPr>
          <p:grpSpPr>
            <a:xfrm>
              <a:off x="2916702" y="2902398"/>
              <a:ext cx="1525671" cy="1166648"/>
              <a:chOff x="872358" y="3993931"/>
              <a:chExt cx="1525671" cy="1166648"/>
            </a:xfrm>
          </p:grpSpPr>
          <p:pic>
            <p:nvPicPr>
              <p:cNvPr id="4" name="Picture 4" descr="time-series forecasting process. | Download Scientific Diagram">
                <a:extLst>
                  <a:ext uri="{FF2B5EF4-FFF2-40B4-BE49-F238E27FC236}">
                    <a16:creationId xmlns:a16="http://schemas.microsoft.com/office/drawing/2014/main" id="{20D91DB4-3428-6B7A-081C-8497D5CE5A3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89" t="71416" r="66363" b="2816"/>
              <a:stretch/>
            </p:blipFill>
            <p:spPr bwMode="auto">
              <a:xfrm>
                <a:off x="872358" y="3993931"/>
                <a:ext cx="1525671" cy="116664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" name="Picture 4" descr="time-series forecasting process. | Download Scientific Diagram">
                <a:extLst>
                  <a:ext uri="{FF2B5EF4-FFF2-40B4-BE49-F238E27FC236}">
                    <a16:creationId xmlns:a16="http://schemas.microsoft.com/office/drawing/2014/main" id="{7578FAB7-5EBA-B920-5899-0BAE6EEA1B8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89" t="75578" r="91837" b="15048"/>
              <a:stretch/>
            </p:blipFill>
            <p:spPr bwMode="auto">
              <a:xfrm>
                <a:off x="2087973" y="4246273"/>
                <a:ext cx="310056" cy="51102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2" name="Picture 4" descr="time-series forecasting process. | Download Scientific Diagram">
              <a:extLst>
                <a:ext uri="{FF2B5EF4-FFF2-40B4-BE49-F238E27FC236}">
                  <a16:creationId xmlns:a16="http://schemas.microsoft.com/office/drawing/2014/main" id="{9B5F7F91-EECB-4254-6F2D-1277B76CFE2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443" t="41545" r="31775" b="36633"/>
            <a:stretch/>
          </p:blipFill>
          <p:spPr bwMode="auto">
            <a:xfrm>
              <a:off x="7184496" y="3014926"/>
              <a:ext cx="1916850" cy="1126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DECF01F-E121-7769-D9EE-34CEFCD703D8}"/>
                </a:ext>
              </a:extLst>
            </p:cNvPr>
            <p:cNvGrpSpPr/>
            <p:nvPr/>
          </p:nvGrpSpPr>
          <p:grpSpPr>
            <a:xfrm>
              <a:off x="5002923" y="2942896"/>
              <a:ext cx="1712857" cy="1250732"/>
              <a:chOff x="3209695" y="3977559"/>
              <a:chExt cx="1712857" cy="1250732"/>
            </a:xfrm>
          </p:grpSpPr>
          <p:pic>
            <p:nvPicPr>
              <p:cNvPr id="3" name="Picture 4" descr="time-series forecasting process. | Download Scientific Diagram">
                <a:extLst>
                  <a:ext uri="{FF2B5EF4-FFF2-40B4-BE49-F238E27FC236}">
                    <a16:creationId xmlns:a16="http://schemas.microsoft.com/office/drawing/2014/main" id="{BBB5082D-41F4-6C52-3D7D-8F88FC25F16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9230" t="3280" r="38179" b="69094"/>
              <a:stretch/>
            </p:blipFill>
            <p:spPr bwMode="auto">
              <a:xfrm>
                <a:off x="3457903" y="3977559"/>
                <a:ext cx="1124607" cy="12507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C85FC84-79B7-0443-9E08-EEB49E017E33}"/>
                  </a:ext>
                </a:extLst>
              </p:cNvPr>
              <p:cNvSpPr txBox="1"/>
              <p:nvPr/>
            </p:nvSpPr>
            <p:spPr>
              <a:xfrm>
                <a:off x="3209695" y="4867962"/>
                <a:ext cx="1712857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Feature Engineering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3039D1D-3B41-96A9-529B-2954985FD6F0}"/>
                </a:ext>
              </a:extLst>
            </p:cNvPr>
            <p:cNvGrpSpPr/>
            <p:nvPr/>
          </p:nvGrpSpPr>
          <p:grpSpPr>
            <a:xfrm>
              <a:off x="9664655" y="2908369"/>
              <a:ext cx="1487325" cy="1235702"/>
              <a:chOff x="7740758" y="3021080"/>
              <a:chExt cx="1487325" cy="1235702"/>
            </a:xfrm>
          </p:grpSpPr>
          <p:pic>
            <p:nvPicPr>
              <p:cNvPr id="15" name="Picture 4" descr="time-series forecasting process. | Download Scientific Diagram">
                <a:extLst>
                  <a:ext uri="{FF2B5EF4-FFF2-40B4-BE49-F238E27FC236}">
                    <a16:creationId xmlns:a16="http://schemas.microsoft.com/office/drawing/2014/main" id="{B9E68A0E-B7A3-F3C4-9543-C5F3E7926D7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6219" t="3380" r="3904" b="69327"/>
              <a:stretch/>
            </p:blipFill>
            <p:spPr bwMode="auto">
              <a:xfrm>
                <a:off x="7740758" y="3021080"/>
                <a:ext cx="1487325" cy="12357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" name="Picture 4" descr="time-series forecasting process. | Download Scientific Diagram">
                <a:extLst>
                  <a:ext uri="{FF2B5EF4-FFF2-40B4-BE49-F238E27FC236}">
                    <a16:creationId xmlns:a16="http://schemas.microsoft.com/office/drawing/2014/main" id="{B4301271-DC8B-7FF7-DB35-CEF3E47E308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1557" t="3380" r="3904" b="85565"/>
              <a:stretch/>
            </p:blipFill>
            <p:spPr bwMode="auto">
              <a:xfrm>
                <a:off x="7740758" y="3226263"/>
                <a:ext cx="320676" cy="7102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8" name="Right Arrow 17">
              <a:extLst>
                <a:ext uri="{FF2B5EF4-FFF2-40B4-BE49-F238E27FC236}">
                  <a16:creationId xmlns:a16="http://schemas.microsoft.com/office/drawing/2014/main" id="{D8DBD2C5-7854-7C45-F78B-173DD103618E}"/>
                </a:ext>
              </a:extLst>
            </p:cNvPr>
            <p:cNvSpPr/>
            <p:nvPr/>
          </p:nvSpPr>
          <p:spPr>
            <a:xfrm>
              <a:off x="2240329" y="3340051"/>
              <a:ext cx="672662" cy="347997"/>
            </a:xfrm>
            <a:prstGeom prst="rightArrow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0" name="Right Arrow 19">
              <a:extLst>
                <a:ext uri="{FF2B5EF4-FFF2-40B4-BE49-F238E27FC236}">
                  <a16:creationId xmlns:a16="http://schemas.microsoft.com/office/drawing/2014/main" id="{F942939E-36FD-C1AE-1E3C-75FB50EC687B}"/>
                </a:ext>
              </a:extLst>
            </p:cNvPr>
            <p:cNvSpPr/>
            <p:nvPr/>
          </p:nvSpPr>
          <p:spPr>
            <a:xfrm>
              <a:off x="4353035" y="3340051"/>
              <a:ext cx="672662" cy="347997"/>
            </a:xfrm>
            <a:prstGeom prst="rightArrow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AEE719D7-57C0-1228-8C56-AF47BEC553D3}"/>
                </a:ext>
              </a:extLst>
            </p:cNvPr>
            <p:cNvSpPr/>
            <p:nvPr/>
          </p:nvSpPr>
          <p:spPr>
            <a:xfrm>
              <a:off x="6443786" y="3340051"/>
              <a:ext cx="672662" cy="347997"/>
            </a:xfrm>
            <a:prstGeom prst="rightArrow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2" name="Right Arrow 21">
              <a:extLst>
                <a:ext uri="{FF2B5EF4-FFF2-40B4-BE49-F238E27FC236}">
                  <a16:creationId xmlns:a16="http://schemas.microsoft.com/office/drawing/2014/main" id="{253AECA8-22E3-5652-215D-FD8976F5D4B5}"/>
                </a:ext>
              </a:extLst>
            </p:cNvPr>
            <p:cNvSpPr/>
            <p:nvPr/>
          </p:nvSpPr>
          <p:spPr>
            <a:xfrm>
              <a:off x="8897400" y="3340051"/>
              <a:ext cx="672662" cy="347997"/>
            </a:xfrm>
            <a:prstGeom prst="rightArrow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pic>
        <p:nvPicPr>
          <p:cNvPr id="26" name="Picture 10" descr="LSTM Recurrent Neural Networks - How to Teach a Network to Remember the  Past | Towards Data Science">
            <a:extLst>
              <a:ext uri="{FF2B5EF4-FFF2-40B4-BE49-F238E27FC236}">
                <a16:creationId xmlns:a16="http://schemas.microsoft.com/office/drawing/2014/main" id="{CB27ACB9-D64C-C99C-0131-D75B4BBB9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2726" y="466239"/>
            <a:ext cx="2400389" cy="2012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ight Arrow 37">
            <a:extLst>
              <a:ext uri="{FF2B5EF4-FFF2-40B4-BE49-F238E27FC236}">
                <a16:creationId xmlns:a16="http://schemas.microsoft.com/office/drawing/2014/main" id="{A4F9C595-7B8E-CC99-E7DA-06C77F590714}"/>
              </a:ext>
            </a:extLst>
          </p:cNvPr>
          <p:cNvSpPr/>
          <p:nvPr/>
        </p:nvSpPr>
        <p:spPr>
          <a:xfrm rot="16200000">
            <a:off x="7806590" y="2304599"/>
            <a:ext cx="672662" cy="347997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73DEA862-7229-72A8-6AF1-B83A32A5CFF2}"/>
              </a:ext>
            </a:extLst>
          </p:cNvPr>
          <p:cNvSpPr/>
          <p:nvPr/>
        </p:nvSpPr>
        <p:spPr>
          <a:xfrm rot="5400000">
            <a:off x="1277923" y="4355961"/>
            <a:ext cx="672662" cy="347997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C371840A-6C00-BF79-C96D-9BDF2B44910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695" t="21285" r="19931" b="37580"/>
          <a:stretch/>
        </p:blipFill>
        <p:spPr>
          <a:xfrm>
            <a:off x="920761" y="5069801"/>
            <a:ext cx="1386986" cy="307777"/>
          </a:xfrm>
          <a:prstGeom prst="rect">
            <a:avLst/>
          </a:prstGeom>
        </p:spPr>
      </p:pic>
      <p:pic>
        <p:nvPicPr>
          <p:cNvPr id="44" name="Picture 12" descr="Locked Onto Home Theater and High-End Commercial Display Markets, Revenue  of Micro LED Large-sized Display Chips Will Reach US$4.5 Billion in 2026,  Says TrendForce – Display Daily">
            <a:extLst>
              <a:ext uri="{FF2B5EF4-FFF2-40B4-BE49-F238E27FC236}">
                <a16:creationId xmlns:a16="http://schemas.microsoft.com/office/drawing/2014/main" id="{2DD716A7-D6F0-E583-F378-631E96A76D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57" t="36600" b="35393"/>
          <a:stretch/>
        </p:blipFill>
        <p:spPr bwMode="auto">
          <a:xfrm>
            <a:off x="463623" y="5445478"/>
            <a:ext cx="2301262" cy="447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Right Arrow 44">
            <a:extLst>
              <a:ext uri="{FF2B5EF4-FFF2-40B4-BE49-F238E27FC236}">
                <a16:creationId xmlns:a16="http://schemas.microsoft.com/office/drawing/2014/main" id="{8B3BB069-B039-E5C0-5DC3-A007F5FD70A6}"/>
              </a:ext>
            </a:extLst>
          </p:cNvPr>
          <p:cNvSpPr/>
          <p:nvPr/>
        </p:nvSpPr>
        <p:spPr>
          <a:xfrm rot="5400000">
            <a:off x="10071986" y="4355961"/>
            <a:ext cx="672662" cy="347997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4E8FC99-1AFF-5761-0403-4BCF0868487D}"/>
              </a:ext>
            </a:extLst>
          </p:cNvPr>
          <p:cNvSpPr/>
          <p:nvPr/>
        </p:nvSpPr>
        <p:spPr>
          <a:xfrm>
            <a:off x="8710191" y="4931301"/>
            <a:ext cx="339625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RSME, MAE, MAPE</a:t>
            </a:r>
            <a:endParaRPr lang="en-US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56241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26D6AE-351E-64A5-2A9D-E16427A78AC7}"/>
              </a:ext>
            </a:extLst>
          </p:cNvPr>
          <p:cNvSpPr txBox="1"/>
          <p:nvPr/>
        </p:nvSpPr>
        <p:spPr>
          <a:xfrm>
            <a:off x="341423" y="377691"/>
            <a:ext cx="80299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effectLst/>
                <a:latin typeface="Times New Roman" panose="02020603050405020304" pitchFamily="18" charset="0"/>
              </a:rPr>
              <a:t>Data Collection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9A8565-5BBF-6445-6CDC-035491EC46CB}"/>
              </a:ext>
            </a:extLst>
          </p:cNvPr>
          <p:cNvSpPr txBox="1"/>
          <p:nvPr/>
        </p:nvSpPr>
        <p:spPr>
          <a:xfrm>
            <a:off x="826476" y="5418479"/>
            <a:ext cx="107138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dirty="0">
                <a:latin typeface="Times New Roman" panose="02020603050405020304" pitchFamily="18" charset="0"/>
              </a:rPr>
              <a:t>Kaggle doesn’t have related dataset. Collected data from </a:t>
            </a:r>
            <a:r>
              <a:rPr lang="en-US" sz="2400" b="1" dirty="0">
                <a:latin typeface="Times New Roman" panose="02020603050405020304" pitchFamily="18" charset="0"/>
              </a:rPr>
              <a:t>FRED</a:t>
            </a:r>
            <a:r>
              <a:rPr lang="en-US" sz="2400" dirty="0">
                <a:latin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</a:rPr>
              <a:t>TRENDFORCE</a:t>
            </a:r>
          </a:p>
        </p:txBody>
      </p:sp>
      <p:pic>
        <p:nvPicPr>
          <p:cNvPr id="5122" name="Picture 2" descr="Kaggle - Wikipedia">
            <a:extLst>
              <a:ext uri="{FF2B5EF4-FFF2-40B4-BE49-F238E27FC236}">
                <a16:creationId xmlns:a16="http://schemas.microsoft.com/office/drawing/2014/main" id="{FEEB2655-7E18-5A3A-D5AD-712DFDE46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235" y="2706430"/>
            <a:ext cx="3721889" cy="1445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ultiply 1">
            <a:extLst>
              <a:ext uri="{FF2B5EF4-FFF2-40B4-BE49-F238E27FC236}">
                <a16:creationId xmlns:a16="http://schemas.microsoft.com/office/drawing/2014/main" id="{6AF523CE-6F48-2FEA-AC06-D5B8F8356689}"/>
              </a:ext>
            </a:extLst>
          </p:cNvPr>
          <p:cNvSpPr/>
          <p:nvPr/>
        </p:nvSpPr>
        <p:spPr>
          <a:xfrm>
            <a:off x="976235" y="1894740"/>
            <a:ext cx="3399962" cy="3068520"/>
          </a:xfrm>
          <a:prstGeom prst="mathMultiply">
            <a:avLst>
              <a:gd name="adj1" fmla="val 1885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BFDC1B-A2FC-1BFA-5DF4-91BA414AB7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74" r="3765"/>
          <a:stretch/>
        </p:blipFill>
        <p:spPr>
          <a:xfrm>
            <a:off x="5402317" y="1502979"/>
            <a:ext cx="5612524" cy="1981200"/>
          </a:xfrm>
          <a:prstGeom prst="rect">
            <a:avLst/>
          </a:prstGeom>
        </p:spPr>
      </p:pic>
      <p:sp>
        <p:nvSpPr>
          <p:cNvPr id="4" name="AutoShape 6">
            <a:extLst>
              <a:ext uri="{FF2B5EF4-FFF2-40B4-BE49-F238E27FC236}">
                <a16:creationId xmlns:a16="http://schemas.microsoft.com/office/drawing/2014/main" id="{55EFC23D-1696-2047-F240-3C92994C4A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132" name="Picture 12" descr="Locked Onto Home Theater and High-End Commercial Display Markets, Revenue  of Micro LED Large-sized Display Chips Will Reach US$4.5 Billion in 2026,  Says TrendForce – Display Daily">
            <a:extLst>
              <a:ext uri="{FF2B5EF4-FFF2-40B4-BE49-F238E27FC236}">
                <a16:creationId xmlns:a16="http://schemas.microsoft.com/office/drawing/2014/main" id="{5BD84732-6A7C-7BFF-3865-BDC4F47321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66" b="35393"/>
          <a:stretch/>
        </p:blipFill>
        <p:spPr bwMode="auto">
          <a:xfrm>
            <a:off x="5668579" y="3656358"/>
            <a:ext cx="5080000" cy="969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7144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26D6AE-351E-64A5-2A9D-E16427A78AC7}"/>
              </a:ext>
            </a:extLst>
          </p:cNvPr>
          <p:cNvSpPr txBox="1"/>
          <p:nvPr/>
        </p:nvSpPr>
        <p:spPr>
          <a:xfrm>
            <a:off x="341423" y="377691"/>
            <a:ext cx="80299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effectLst/>
                <a:latin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9A8565-5BBF-6445-6CDC-035491EC46CB}"/>
              </a:ext>
            </a:extLst>
          </p:cNvPr>
          <p:cNvSpPr txBox="1"/>
          <p:nvPr/>
        </p:nvSpPr>
        <p:spPr>
          <a:xfrm>
            <a:off x="1556956" y="5793529"/>
            <a:ext cx="107138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dirty="0">
                <a:latin typeface="Times New Roman" panose="02020603050405020304" pitchFamily="18" charset="0"/>
              </a:rPr>
              <a:t>Collected each features individually, then </a:t>
            </a:r>
            <a:r>
              <a:rPr lang="en-US" sz="2400" b="1" dirty="0">
                <a:latin typeface="Times New Roman" panose="02020603050405020304" pitchFamily="18" charset="0"/>
              </a:rPr>
              <a:t>MERGED BY DATE</a:t>
            </a:r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55EFC23D-1696-2047-F240-3C92994C4A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61651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7FCFD95-2EB5-5824-2CEC-1BAFD1DDA54B}"/>
              </a:ext>
            </a:extLst>
          </p:cNvPr>
          <p:cNvGrpSpPr/>
          <p:nvPr/>
        </p:nvGrpSpPr>
        <p:grpSpPr>
          <a:xfrm>
            <a:off x="1432148" y="1601163"/>
            <a:ext cx="1168541" cy="1608797"/>
            <a:chOff x="1114097" y="1601163"/>
            <a:chExt cx="1168541" cy="1608797"/>
          </a:xfrm>
        </p:grpSpPr>
        <p:pic>
          <p:nvPicPr>
            <p:cNvPr id="7170" name="Picture 2" descr="3+ Thousand Csv File Icon Royalty-Free Images, Stock Photos &amp; Pictures |  Shutterstock">
              <a:extLst>
                <a:ext uri="{FF2B5EF4-FFF2-40B4-BE49-F238E27FC236}">
                  <a16:creationId xmlns:a16="http://schemas.microsoft.com/office/drawing/2014/main" id="{912389FC-98FB-CE0C-B962-C294C0C8E28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92" t="9043" r="18736" b="11111"/>
            <a:stretch/>
          </p:blipFill>
          <p:spPr bwMode="auto">
            <a:xfrm>
              <a:off x="1114097" y="1601163"/>
              <a:ext cx="1093075" cy="12599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1A5FF9F-2786-D701-C782-D25BDB842E77}"/>
                </a:ext>
              </a:extLst>
            </p:cNvPr>
            <p:cNvSpPr txBox="1"/>
            <p:nvPr/>
          </p:nvSpPr>
          <p:spPr>
            <a:xfrm>
              <a:off x="1189563" y="2902183"/>
              <a:ext cx="109307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Nickel Price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D217E1-F3A0-F400-E438-EB0AD0E173C1}"/>
              </a:ext>
            </a:extLst>
          </p:cNvPr>
          <p:cNvGrpSpPr/>
          <p:nvPr/>
        </p:nvGrpSpPr>
        <p:grpSpPr>
          <a:xfrm>
            <a:off x="2603744" y="1601163"/>
            <a:ext cx="1168541" cy="1608797"/>
            <a:chOff x="1114097" y="1601163"/>
            <a:chExt cx="1168541" cy="1608797"/>
          </a:xfrm>
        </p:grpSpPr>
        <p:pic>
          <p:nvPicPr>
            <p:cNvPr id="16" name="Picture 2" descr="3+ Thousand Csv File Icon Royalty-Free Images, Stock Photos &amp; Pictures |  Shutterstock">
              <a:extLst>
                <a:ext uri="{FF2B5EF4-FFF2-40B4-BE49-F238E27FC236}">
                  <a16:creationId xmlns:a16="http://schemas.microsoft.com/office/drawing/2014/main" id="{8B9C814C-8663-15BA-065A-DE824D50F65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92" t="9043" r="18736" b="11111"/>
            <a:stretch/>
          </p:blipFill>
          <p:spPr bwMode="auto">
            <a:xfrm>
              <a:off x="1114097" y="1601163"/>
              <a:ext cx="1093075" cy="12599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BA08A9A-E353-41F3-C28A-983D92717640}"/>
                </a:ext>
              </a:extLst>
            </p:cNvPr>
            <p:cNvSpPr txBox="1"/>
            <p:nvPr/>
          </p:nvSpPr>
          <p:spPr>
            <a:xfrm>
              <a:off x="1189563" y="2902183"/>
              <a:ext cx="109307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USD Index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6C8BE6-8B97-66A5-D339-409C998B6E9D}"/>
              </a:ext>
            </a:extLst>
          </p:cNvPr>
          <p:cNvGrpSpPr/>
          <p:nvPr/>
        </p:nvGrpSpPr>
        <p:grpSpPr>
          <a:xfrm>
            <a:off x="3850806" y="1612453"/>
            <a:ext cx="1168541" cy="1824240"/>
            <a:chOff x="1114097" y="1601163"/>
            <a:chExt cx="1168541" cy="1824240"/>
          </a:xfrm>
        </p:grpSpPr>
        <p:pic>
          <p:nvPicPr>
            <p:cNvPr id="19" name="Picture 2" descr="3+ Thousand Csv File Icon Royalty-Free Images, Stock Photos &amp; Pictures |  Shutterstock">
              <a:extLst>
                <a:ext uri="{FF2B5EF4-FFF2-40B4-BE49-F238E27FC236}">
                  <a16:creationId xmlns:a16="http://schemas.microsoft.com/office/drawing/2014/main" id="{59BE6B96-A1A4-9590-2FDA-6B7B79D278B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92" t="9043" r="18736" b="11111"/>
            <a:stretch/>
          </p:blipFill>
          <p:spPr bwMode="auto">
            <a:xfrm>
              <a:off x="1114097" y="1601163"/>
              <a:ext cx="1093075" cy="12599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DC54ED3-9938-E851-9CB3-A58CA1B110DB}"/>
                </a:ext>
              </a:extLst>
            </p:cNvPr>
            <p:cNvSpPr txBox="1"/>
            <p:nvPr/>
          </p:nvSpPr>
          <p:spPr>
            <a:xfrm>
              <a:off x="1189563" y="2902183"/>
              <a:ext cx="109307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Consumer Price Index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816BAAA-F53E-DBDF-2FEF-892CF467DF24}"/>
              </a:ext>
            </a:extLst>
          </p:cNvPr>
          <p:cNvGrpSpPr/>
          <p:nvPr/>
        </p:nvGrpSpPr>
        <p:grpSpPr>
          <a:xfrm>
            <a:off x="2126328" y="3449532"/>
            <a:ext cx="1168541" cy="2039684"/>
            <a:chOff x="1114097" y="1601163"/>
            <a:chExt cx="1168541" cy="2039684"/>
          </a:xfrm>
        </p:grpSpPr>
        <p:pic>
          <p:nvPicPr>
            <p:cNvPr id="22" name="Picture 2" descr="3+ Thousand Csv File Icon Royalty-Free Images, Stock Photos &amp; Pictures |  Shutterstock">
              <a:extLst>
                <a:ext uri="{FF2B5EF4-FFF2-40B4-BE49-F238E27FC236}">
                  <a16:creationId xmlns:a16="http://schemas.microsoft.com/office/drawing/2014/main" id="{B1D89D51-ACC5-FCBC-EC40-5533503BCD4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92" t="9043" r="18736" b="11111"/>
            <a:stretch/>
          </p:blipFill>
          <p:spPr bwMode="auto">
            <a:xfrm>
              <a:off x="1114097" y="1601163"/>
              <a:ext cx="1093075" cy="12599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AF591DB-8450-439B-3104-B776E7C84DF0}"/>
                </a:ext>
              </a:extLst>
            </p:cNvPr>
            <p:cNvSpPr txBox="1"/>
            <p:nvPr/>
          </p:nvSpPr>
          <p:spPr>
            <a:xfrm>
              <a:off x="1189563" y="2902183"/>
              <a:ext cx="1093075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Industrial Production Index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A269016-4DD2-99FC-6DAA-468E34419166}"/>
              </a:ext>
            </a:extLst>
          </p:cNvPr>
          <p:cNvGrpSpPr/>
          <p:nvPr/>
        </p:nvGrpSpPr>
        <p:grpSpPr>
          <a:xfrm>
            <a:off x="3297924" y="3484126"/>
            <a:ext cx="1168541" cy="2039684"/>
            <a:chOff x="1114097" y="1601163"/>
            <a:chExt cx="1168541" cy="2039684"/>
          </a:xfrm>
        </p:grpSpPr>
        <p:pic>
          <p:nvPicPr>
            <p:cNvPr id="25" name="Picture 2" descr="3+ Thousand Csv File Icon Royalty-Free Images, Stock Photos &amp; Pictures |  Shutterstock">
              <a:extLst>
                <a:ext uri="{FF2B5EF4-FFF2-40B4-BE49-F238E27FC236}">
                  <a16:creationId xmlns:a16="http://schemas.microsoft.com/office/drawing/2014/main" id="{ABF51AB2-C93E-7AB9-FEBC-6BBA66A21F3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92" t="9043" r="18736" b="11111"/>
            <a:stretch/>
          </p:blipFill>
          <p:spPr bwMode="auto">
            <a:xfrm>
              <a:off x="1114097" y="1601163"/>
              <a:ext cx="1093075" cy="12599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67FF0D4-BB4E-320C-D9EC-0AF5891F8F26}"/>
                </a:ext>
              </a:extLst>
            </p:cNvPr>
            <p:cNvSpPr txBox="1"/>
            <p:nvPr/>
          </p:nvSpPr>
          <p:spPr>
            <a:xfrm>
              <a:off x="1189563" y="2902183"/>
              <a:ext cx="1093075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DGS10 - Treasury Rate 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F2993A3-F2A0-4ABB-334D-4B35E57255E7}"/>
              </a:ext>
            </a:extLst>
          </p:cNvPr>
          <p:cNvGrpSpPr/>
          <p:nvPr/>
        </p:nvGrpSpPr>
        <p:grpSpPr>
          <a:xfrm>
            <a:off x="4545287" y="3525208"/>
            <a:ext cx="1168541" cy="1824240"/>
            <a:chOff x="1114097" y="1601163"/>
            <a:chExt cx="1168541" cy="1824240"/>
          </a:xfrm>
        </p:grpSpPr>
        <p:pic>
          <p:nvPicPr>
            <p:cNvPr id="28" name="Picture 2" descr="3+ Thousand Csv File Icon Royalty-Free Images, Stock Photos &amp; Pictures |  Shutterstock">
              <a:extLst>
                <a:ext uri="{FF2B5EF4-FFF2-40B4-BE49-F238E27FC236}">
                  <a16:creationId xmlns:a16="http://schemas.microsoft.com/office/drawing/2014/main" id="{D1ADDEBF-B709-0CDA-1DC4-C748DA27149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92" t="9043" r="18736" b="11111"/>
            <a:stretch/>
          </p:blipFill>
          <p:spPr bwMode="auto">
            <a:xfrm>
              <a:off x="1114097" y="1601163"/>
              <a:ext cx="1093075" cy="12599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5636401-AC70-7D62-9F5B-E2BCFCE06B8E}"/>
                </a:ext>
              </a:extLst>
            </p:cNvPr>
            <p:cNvSpPr txBox="1"/>
            <p:nvPr/>
          </p:nvSpPr>
          <p:spPr>
            <a:xfrm>
              <a:off x="1189563" y="2902183"/>
              <a:ext cx="109307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Crude Oil Price</a:t>
              </a:r>
              <a:endPara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BFE99F6-DF61-AC1F-631E-ED71590160C4}"/>
              </a:ext>
            </a:extLst>
          </p:cNvPr>
          <p:cNvGrpSpPr/>
          <p:nvPr/>
        </p:nvGrpSpPr>
        <p:grpSpPr>
          <a:xfrm>
            <a:off x="5022703" y="1601163"/>
            <a:ext cx="1390062" cy="2050974"/>
            <a:chOff x="1035877" y="1601163"/>
            <a:chExt cx="1390062" cy="2050974"/>
          </a:xfrm>
        </p:grpSpPr>
        <p:pic>
          <p:nvPicPr>
            <p:cNvPr id="31" name="Picture 2" descr="3+ Thousand Csv File Icon Royalty-Free Images, Stock Photos &amp; Pictures |  Shutterstock">
              <a:extLst>
                <a:ext uri="{FF2B5EF4-FFF2-40B4-BE49-F238E27FC236}">
                  <a16:creationId xmlns:a16="http://schemas.microsoft.com/office/drawing/2014/main" id="{7806D78C-382F-FCF9-495B-CC3A063908A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92" t="9043" r="18736" b="11111"/>
            <a:stretch/>
          </p:blipFill>
          <p:spPr bwMode="auto">
            <a:xfrm>
              <a:off x="1114097" y="1601163"/>
              <a:ext cx="1093075" cy="12599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7390F6B-5E24-3516-AE7A-302BA4E902D0}"/>
                </a:ext>
              </a:extLst>
            </p:cNvPr>
            <p:cNvSpPr txBox="1"/>
            <p:nvPr/>
          </p:nvSpPr>
          <p:spPr>
            <a:xfrm>
              <a:off x="1035877" y="2913473"/>
              <a:ext cx="1390062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China Manufacturing PMI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06CCF77-5860-B42D-5F19-FBB039638211}"/>
              </a:ext>
            </a:extLst>
          </p:cNvPr>
          <p:cNvGrpSpPr/>
          <p:nvPr/>
        </p:nvGrpSpPr>
        <p:grpSpPr>
          <a:xfrm>
            <a:off x="8834296" y="2603789"/>
            <a:ext cx="1390062" cy="1620087"/>
            <a:chOff x="1035877" y="1601163"/>
            <a:chExt cx="1390062" cy="1620087"/>
          </a:xfrm>
        </p:grpSpPr>
        <p:pic>
          <p:nvPicPr>
            <p:cNvPr id="34" name="Picture 2" descr="3+ Thousand Csv File Icon Royalty-Free Images, Stock Photos &amp; Pictures |  Shutterstock">
              <a:extLst>
                <a:ext uri="{FF2B5EF4-FFF2-40B4-BE49-F238E27FC236}">
                  <a16:creationId xmlns:a16="http://schemas.microsoft.com/office/drawing/2014/main" id="{6511D46B-B0DF-378F-10C3-E1252483EC9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92" t="9043" r="18736" b="11111"/>
            <a:stretch/>
          </p:blipFill>
          <p:spPr bwMode="auto">
            <a:xfrm>
              <a:off x="1114097" y="1601163"/>
              <a:ext cx="1093075" cy="12599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CE366A9-8C28-0D2D-5570-8E5AEA3E87EA}"/>
                </a:ext>
              </a:extLst>
            </p:cNvPr>
            <p:cNvSpPr txBox="1"/>
            <p:nvPr/>
          </p:nvSpPr>
          <p:spPr>
            <a:xfrm>
              <a:off x="1035877" y="2913473"/>
              <a:ext cx="139006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MERGED</a:t>
              </a:r>
            </a:p>
          </p:txBody>
        </p:sp>
      </p:grpSp>
      <p:sp>
        <p:nvSpPr>
          <p:cNvPr id="36" name="Right Arrow 35">
            <a:extLst>
              <a:ext uri="{FF2B5EF4-FFF2-40B4-BE49-F238E27FC236}">
                <a16:creationId xmlns:a16="http://schemas.microsoft.com/office/drawing/2014/main" id="{30130BA7-A3C3-494A-6168-FE1DF1EB89AA}"/>
              </a:ext>
            </a:extLst>
          </p:cNvPr>
          <p:cNvSpPr/>
          <p:nvPr/>
        </p:nvSpPr>
        <p:spPr>
          <a:xfrm>
            <a:off x="7029081" y="3052877"/>
            <a:ext cx="1264420" cy="646330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23731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26D6AE-351E-64A5-2A9D-E16427A78AC7}"/>
              </a:ext>
            </a:extLst>
          </p:cNvPr>
          <p:cNvSpPr txBox="1"/>
          <p:nvPr/>
        </p:nvSpPr>
        <p:spPr>
          <a:xfrm>
            <a:off x="341423" y="377691"/>
            <a:ext cx="80299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effectLst/>
                <a:latin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9A8565-5BBF-6445-6CDC-035491EC46CB}"/>
              </a:ext>
            </a:extLst>
          </p:cNvPr>
          <p:cNvSpPr txBox="1"/>
          <p:nvPr/>
        </p:nvSpPr>
        <p:spPr>
          <a:xfrm>
            <a:off x="1335406" y="5888855"/>
            <a:ext cx="107138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latin typeface="Times New Roman" panose="02020603050405020304" pitchFamily="18" charset="0"/>
              </a:rPr>
              <a:t>China Manufacturing PMI </a:t>
            </a:r>
            <a:r>
              <a:rPr lang="en-US" sz="2400" dirty="0">
                <a:latin typeface="Times New Roman" panose="02020603050405020304" pitchFamily="18" charset="0"/>
              </a:rPr>
              <a:t>had different format. </a:t>
            </a:r>
            <a:r>
              <a:rPr lang="en-US" sz="2400" b="1" dirty="0">
                <a:latin typeface="Times New Roman" panose="02020603050405020304" pitchFamily="18" charset="0"/>
              </a:rPr>
              <a:t>DGS10</a:t>
            </a:r>
            <a:r>
              <a:rPr lang="en-US" sz="2400" dirty="0">
                <a:latin typeface="Times New Roman" panose="02020603050405020304" pitchFamily="18" charset="0"/>
              </a:rPr>
              <a:t> was yearly data.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9074124-4427-0BF1-CFE0-31A590833221}"/>
              </a:ext>
            </a:extLst>
          </p:cNvPr>
          <p:cNvGrpSpPr/>
          <p:nvPr/>
        </p:nvGrpSpPr>
        <p:grpSpPr>
          <a:xfrm>
            <a:off x="1611959" y="1337837"/>
            <a:ext cx="8891912" cy="2050974"/>
            <a:chOff x="1015611" y="1530426"/>
            <a:chExt cx="8891912" cy="205097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FA84A49-A5AE-ABBC-D30D-8DBFCE5EC774}"/>
                </a:ext>
              </a:extLst>
            </p:cNvPr>
            <p:cNvGrpSpPr/>
            <p:nvPr/>
          </p:nvGrpSpPr>
          <p:grpSpPr>
            <a:xfrm>
              <a:off x="1015611" y="1530426"/>
              <a:ext cx="1390062" cy="2050974"/>
              <a:chOff x="1035877" y="1601163"/>
              <a:chExt cx="1390062" cy="2050974"/>
            </a:xfrm>
          </p:grpSpPr>
          <p:pic>
            <p:nvPicPr>
              <p:cNvPr id="7" name="Picture 2" descr="3+ Thousand Csv File Icon Royalty-Free Images, Stock Photos &amp; Pictures |  Shutterstock">
                <a:extLst>
                  <a:ext uri="{FF2B5EF4-FFF2-40B4-BE49-F238E27FC236}">
                    <a16:creationId xmlns:a16="http://schemas.microsoft.com/office/drawing/2014/main" id="{8B383634-8F8E-0718-71E1-EF8B8AE9911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992" t="9043" r="18736" b="11111"/>
              <a:stretch/>
            </p:blipFill>
            <p:spPr bwMode="auto">
              <a:xfrm>
                <a:off x="1114097" y="1601163"/>
                <a:ext cx="1093075" cy="125993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AE1A02-FD44-EF9E-BC68-CB23D7C07EEF}"/>
                  </a:ext>
                </a:extLst>
              </p:cNvPr>
              <p:cNvSpPr txBox="1"/>
              <p:nvPr/>
            </p:nvSpPr>
            <p:spPr>
              <a:xfrm>
                <a:off x="1035877" y="2913473"/>
                <a:ext cx="1390062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China Manufacturing PMI</a:t>
                </a:r>
              </a:p>
            </p:txBody>
          </p:sp>
        </p:grp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8C9AD349-82E1-ADFB-1B66-D7232F753A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28251" y="1872106"/>
              <a:ext cx="7179272" cy="970630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98B8230-1499-9EB9-688D-C7347E6CA529}"/>
              </a:ext>
            </a:extLst>
          </p:cNvPr>
          <p:cNvGrpSpPr/>
          <p:nvPr/>
        </p:nvGrpSpPr>
        <p:grpSpPr>
          <a:xfrm>
            <a:off x="1722719" y="3627309"/>
            <a:ext cx="8781152" cy="2111724"/>
            <a:chOff x="1126371" y="3759831"/>
            <a:chExt cx="8781152" cy="211172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F69161A-8F85-E71A-CE18-7F4331CE7BE4}"/>
                </a:ext>
              </a:extLst>
            </p:cNvPr>
            <p:cNvGrpSpPr/>
            <p:nvPr/>
          </p:nvGrpSpPr>
          <p:grpSpPr>
            <a:xfrm>
              <a:off x="1126371" y="3831871"/>
              <a:ext cx="1168541" cy="2039684"/>
              <a:chOff x="1114097" y="1601163"/>
              <a:chExt cx="1168541" cy="2039684"/>
            </a:xfrm>
          </p:grpSpPr>
          <p:pic>
            <p:nvPicPr>
              <p:cNvPr id="3" name="Picture 2" descr="3+ Thousand Csv File Icon Royalty-Free Images, Stock Photos &amp; Pictures |  Shutterstock">
                <a:extLst>
                  <a:ext uri="{FF2B5EF4-FFF2-40B4-BE49-F238E27FC236}">
                    <a16:creationId xmlns:a16="http://schemas.microsoft.com/office/drawing/2014/main" id="{77ABCB34-A2D6-BF30-E451-4961245045C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992" t="9043" r="18736" b="11111"/>
              <a:stretch/>
            </p:blipFill>
            <p:spPr bwMode="auto">
              <a:xfrm>
                <a:off x="1114097" y="1601163"/>
                <a:ext cx="1093075" cy="125993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BCA5E6F-8AC1-DFEB-1F81-EB050F2638E1}"/>
                  </a:ext>
                </a:extLst>
              </p:cNvPr>
              <p:cNvSpPr txBox="1"/>
              <p:nvPr/>
            </p:nvSpPr>
            <p:spPr>
              <a:xfrm>
                <a:off x="1189563" y="2902183"/>
                <a:ext cx="1093075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DGS10 - Treasury Rate </a:t>
                </a:r>
              </a:p>
            </p:txBody>
          </p:sp>
        </p:grp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4E3DA43C-031A-672B-9742-764AF7854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28251" y="3759831"/>
              <a:ext cx="7179272" cy="19510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2446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26D6AE-351E-64A5-2A9D-E16427A78AC7}"/>
              </a:ext>
            </a:extLst>
          </p:cNvPr>
          <p:cNvSpPr txBox="1"/>
          <p:nvPr/>
        </p:nvSpPr>
        <p:spPr>
          <a:xfrm>
            <a:off x="341423" y="377691"/>
            <a:ext cx="80299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effectLst/>
                <a:latin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9A8565-5BBF-6445-6CDC-035491EC46CB}"/>
              </a:ext>
            </a:extLst>
          </p:cNvPr>
          <p:cNvSpPr txBox="1"/>
          <p:nvPr/>
        </p:nvSpPr>
        <p:spPr>
          <a:xfrm>
            <a:off x="739058" y="5853546"/>
            <a:ext cx="107138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</a:rPr>
              <a:t>Successfully Merged. No Missing Values.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C96D1CB-A3FB-EB23-95AE-59D3AF2B5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778" y="1871646"/>
            <a:ext cx="6980816" cy="3592353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FD3C333-34CC-E1B9-6904-E06BA4AF783A}"/>
              </a:ext>
            </a:extLst>
          </p:cNvPr>
          <p:cNvGrpSpPr/>
          <p:nvPr/>
        </p:nvGrpSpPr>
        <p:grpSpPr>
          <a:xfrm>
            <a:off x="1877502" y="2679779"/>
            <a:ext cx="1647577" cy="1976086"/>
            <a:chOff x="1035877" y="1601163"/>
            <a:chExt cx="1390062" cy="1555220"/>
          </a:xfrm>
        </p:grpSpPr>
        <p:pic>
          <p:nvPicPr>
            <p:cNvPr id="16" name="Picture 2" descr="3+ Thousand Csv File Icon Royalty-Free Images, Stock Photos &amp; Pictures |  Shutterstock">
              <a:extLst>
                <a:ext uri="{FF2B5EF4-FFF2-40B4-BE49-F238E27FC236}">
                  <a16:creationId xmlns:a16="http://schemas.microsoft.com/office/drawing/2014/main" id="{956427B1-1B95-60EE-151C-6E1CE3216FB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92" t="9043" r="18736" b="11111"/>
            <a:stretch/>
          </p:blipFill>
          <p:spPr bwMode="auto">
            <a:xfrm>
              <a:off x="1114097" y="1601163"/>
              <a:ext cx="1093075" cy="12599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7FAC8BE-0437-6181-0C84-B5133FE6DB13}"/>
                </a:ext>
              </a:extLst>
            </p:cNvPr>
            <p:cNvSpPr txBox="1"/>
            <p:nvPr/>
          </p:nvSpPr>
          <p:spPr>
            <a:xfrm>
              <a:off x="1035877" y="2913473"/>
              <a:ext cx="1390062" cy="242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Merged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6749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26D6AE-351E-64A5-2A9D-E16427A78AC7}"/>
              </a:ext>
            </a:extLst>
          </p:cNvPr>
          <p:cNvSpPr txBox="1"/>
          <p:nvPr/>
        </p:nvSpPr>
        <p:spPr>
          <a:xfrm>
            <a:off x="341423" y="377691"/>
            <a:ext cx="80299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effectLst/>
                <a:latin typeface="Times New Roman" panose="02020603050405020304" pitchFamily="18" charset="0"/>
              </a:rPr>
              <a:t>Feature Engineering – Lag Variables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9A8565-5BBF-6445-6CDC-035491EC46CB}"/>
              </a:ext>
            </a:extLst>
          </p:cNvPr>
          <p:cNvSpPr txBox="1"/>
          <p:nvPr/>
        </p:nvSpPr>
        <p:spPr>
          <a:xfrm>
            <a:off x="739058" y="5778090"/>
            <a:ext cx="107138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latin typeface="Times New Roman" panose="02020603050405020304" pitchFamily="18" charset="0"/>
              </a:rPr>
              <a:t>Lag Variables : </a:t>
            </a:r>
            <a:r>
              <a:rPr lang="en-US" altLang="ko-KR" sz="2400" b="1" dirty="0">
                <a:latin typeface="Times New Roman" panose="02020603050405020304" pitchFamily="18" charset="0"/>
              </a:rPr>
              <a:t>Price Momentum</a:t>
            </a:r>
            <a:r>
              <a:rPr lang="en-US" altLang="ko-KR" sz="2400" dirty="0">
                <a:latin typeface="Times New Roman" panose="02020603050405020304" pitchFamily="18" charset="0"/>
              </a:rPr>
              <a:t> (Up, Down, or Stable?)</a:t>
            </a:r>
            <a:endParaRPr 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FA1556D4-BE98-6654-7689-B87C36E2706C}"/>
              </a:ext>
            </a:extLst>
          </p:cNvPr>
          <p:cNvSpPr/>
          <p:nvPr/>
        </p:nvSpPr>
        <p:spPr>
          <a:xfrm>
            <a:off x="5280057" y="2991092"/>
            <a:ext cx="1264420" cy="646330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A8E77E9-49A8-9FAB-5E5B-1D11714FD9AC}"/>
              </a:ext>
            </a:extLst>
          </p:cNvPr>
          <p:cNvGrpSpPr/>
          <p:nvPr/>
        </p:nvGrpSpPr>
        <p:grpSpPr>
          <a:xfrm>
            <a:off x="8176646" y="2013335"/>
            <a:ext cx="1647577" cy="1976086"/>
            <a:chOff x="1035877" y="1601163"/>
            <a:chExt cx="1390062" cy="1555220"/>
          </a:xfrm>
        </p:grpSpPr>
        <p:pic>
          <p:nvPicPr>
            <p:cNvPr id="26" name="Picture 2" descr="3+ Thousand Csv File Icon Royalty-Free Images, Stock Photos &amp; Pictures |  Shutterstock">
              <a:extLst>
                <a:ext uri="{FF2B5EF4-FFF2-40B4-BE49-F238E27FC236}">
                  <a16:creationId xmlns:a16="http://schemas.microsoft.com/office/drawing/2014/main" id="{F64FF32A-080A-3D88-4633-0476886A1D0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92" t="9043" r="18736" b="11111"/>
            <a:stretch/>
          </p:blipFill>
          <p:spPr bwMode="auto">
            <a:xfrm>
              <a:off x="1114097" y="1601163"/>
              <a:ext cx="1093075" cy="12599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1AF69FE-FA90-8014-C231-1B42B82F0478}"/>
                </a:ext>
              </a:extLst>
            </p:cNvPr>
            <p:cNvSpPr txBox="1"/>
            <p:nvPr/>
          </p:nvSpPr>
          <p:spPr>
            <a:xfrm>
              <a:off x="1035877" y="2913473"/>
              <a:ext cx="1390062" cy="242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Lag1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F5AAD0E-5577-23F2-C631-9E0BA64C3DDB}"/>
              </a:ext>
            </a:extLst>
          </p:cNvPr>
          <p:cNvGrpSpPr/>
          <p:nvPr/>
        </p:nvGrpSpPr>
        <p:grpSpPr>
          <a:xfrm>
            <a:off x="7352857" y="2543646"/>
            <a:ext cx="1647577" cy="1976086"/>
            <a:chOff x="1035877" y="1601163"/>
            <a:chExt cx="1390062" cy="1555220"/>
          </a:xfrm>
        </p:grpSpPr>
        <p:pic>
          <p:nvPicPr>
            <p:cNvPr id="29" name="Picture 2" descr="3+ Thousand Csv File Icon Royalty-Free Images, Stock Photos &amp; Pictures |  Shutterstock">
              <a:extLst>
                <a:ext uri="{FF2B5EF4-FFF2-40B4-BE49-F238E27FC236}">
                  <a16:creationId xmlns:a16="http://schemas.microsoft.com/office/drawing/2014/main" id="{43C7863E-BC4E-2ACD-6C8F-DF57C92EEB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92" t="9043" r="18736" b="11111"/>
            <a:stretch/>
          </p:blipFill>
          <p:spPr bwMode="auto">
            <a:xfrm>
              <a:off x="1114097" y="1601163"/>
              <a:ext cx="1093075" cy="12599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A4DAC76-9570-9740-1223-26838F2892D6}"/>
                </a:ext>
              </a:extLst>
            </p:cNvPr>
            <p:cNvSpPr txBox="1"/>
            <p:nvPr/>
          </p:nvSpPr>
          <p:spPr>
            <a:xfrm>
              <a:off x="1035877" y="2913473"/>
              <a:ext cx="1390062" cy="242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Lag3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85AB088-8E36-0227-D06F-58EEEABC2258}"/>
              </a:ext>
            </a:extLst>
          </p:cNvPr>
          <p:cNvGrpSpPr/>
          <p:nvPr/>
        </p:nvGrpSpPr>
        <p:grpSpPr>
          <a:xfrm>
            <a:off x="2911171" y="2356051"/>
            <a:ext cx="1647577" cy="1976086"/>
            <a:chOff x="1035877" y="1601163"/>
            <a:chExt cx="1390062" cy="1555220"/>
          </a:xfrm>
        </p:grpSpPr>
        <p:pic>
          <p:nvPicPr>
            <p:cNvPr id="40" name="Picture 2" descr="3+ Thousand Csv File Icon Royalty-Free Images, Stock Photos &amp; Pictures |  Shutterstock">
              <a:extLst>
                <a:ext uri="{FF2B5EF4-FFF2-40B4-BE49-F238E27FC236}">
                  <a16:creationId xmlns:a16="http://schemas.microsoft.com/office/drawing/2014/main" id="{9E2D4733-460C-4A35-833E-40C119270F9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92" t="9043" r="18736" b="11111"/>
            <a:stretch/>
          </p:blipFill>
          <p:spPr bwMode="auto">
            <a:xfrm>
              <a:off x="1114097" y="1601163"/>
              <a:ext cx="1093075" cy="12599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DD86F34-BE3F-D84C-3ABC-934A84937407}"/>
                </a:ext>
              </a:extLst>
            </p:cNvPr>
            <p:cNvSpPr txBox="1"/>
            <p:nvPr/>
          </p:nvSpPr>
          <p:spPr>
            <a:xfrm>
              <a:off x="1035877" y="2913473"/>
              <a:ext cx="1390062" cy="242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Nickel Price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8147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26D6AE-351E-64A5-2A9D-E16427A78AC7}"/>
              </a:ext>
            </a:extLst>
          </p:cNvPr>
          <p:cNvSpPr txBox="1"/>
          <p:nvPr/>
        </p:nvSpPr>
        <p:spPr>
          <a:xfrm>
            <a:off x="341423" y="377691"/>
            <a:ext cx="104325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effectLst/>
                <a:latin typeface="Times New Roman" panose="02020603050405020304" pitchFamily="18" charset="0"/>
              </a:rPr>
              <a:t>Feature Engineering – Stationary Transformations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9A8565-5BBF-6445-6CDC-035491EC46CB}"/>
              </a:ext>
            </a:extLst>
          </p:cNvPr>
          <p:cNvSpPr txBox="1"/>
          <p:nvPr/>
        </p:nvSpPr>
        <p:spPr>
          <a:xfrm>
            <a:off x="739058" y="5330644"/>
            <a:ext cx="107138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Differencing: </a:t>
            </a:r>
            <a:r>
              <a:rPr lang="en-US" sz="2400" b="1" dirty="0"/>
              <a:t>Difference between months</a:t>
            </a:r>
          </a:p>
          <a:p>
            <a:pPr algn="ctr"/>
            <a:r>
              <a:rPr lang="en-US" altLang="ko-KR" sz="2400" dirty="0"/>
              <a:t>Let the model </a:t>
            </a:r>
            <a:r>
              <a:rPr lang="en-US" altLang="ko-KR" sz="2400" b="1" dirty="0"/>
              <a:t>learn Changes NOT TRENDS</a:t>
            </a:r>
            <a:endParaRPr lang="en-US" sz="2400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FE0C56-5BD4-9E33-D365-AA78149FB9F8}"/>
              </a:ext>
            </a:extLst>
          </p:cNvPr>
          <p:cNvGrpSpPr/>
          <p:nvPr/>
        </p:nvGrpSpPr>
        <p:grpSpPr>
          <a:xfrm>
            <a:off x="1494099" y="2424305"/>
            <a:ext cx="9958843" cy="1996137"/>
            <a:chOff x="1435818" y="157137"/>
            <a:chExt cx="9958843" cy="199613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87060E1-FCF8-755F-589D-A48C59C1B56F}"/>
                </a:ext>
              </a:extLst>
            </p:cNvPr>
            <p:cNvGrpSpPr/>
            <p:nvPr/>
          </p:nvGrpSpPr>
          <p:grpSpPr>
            <a:xfrm>
              <a:off x="1435818" y="157137"/>
              <a:ext cx="3202443" cy="1996137"/>
              <a:chOff x="6312618" y="1892525"/>
              <a:chExt cx="3202443" cy="199613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2F138637-2F37-1B0F-5DFD-4B34DE7713CE}"/>
                  </a:ext>
                </a:extLst>
              </p:cNvPr>
              <p:cNvGrpSpPr/>
              <p:nvPr/>
            </p:nvGrpSpPr>
            <p:grpSpPr>
              <a:xfrm>
                <a:off x="7867484" y="1912576"/>
                <a:ext cx="1647577" cy="1976086"/>
                <a:chOff x="1035877" y="1590733"/>
                <a:chExt cx="1390062" cy="1555220"/>
              </a:xfrm>
            </p:grpSpPr>
            <p:pic>
              <p:nvPicPr>
                <p:cNvPr id="8" name="Picture 2" descr="3+ Thousand Csv File Icon Royalty-Free Images, Stock Photos &amp; Pictures |  Shutterstock">
                  <a:extLst>
                    <a:ext uri="{FF2B5EF4-FFF2-40B4-BE49-F238E27FC236}">
                      <a16:creationId xmlns:a16="http://schemas.microsoft.com/office/drawing/2014/main" id="{3344BFEE-D58B-6087-07DF-E83159BEA8A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1992" t="9043" r="18736" b="11111"/>
                <a:stretch/>
              </p:blipFill>
              <p:spPr bwMode="auto">
                <a:xfrm>
                  <a:off x="1114097" y="1590733"/>
                  <a:ext cx="1093075" cy="125993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4637A19-C208-F68E-ADC6-0A5CA39BEC83}"/>
                    </a:ext>
                  </a:extLst>
                </p:cNvPr>
                <p:cNvSpPr txBox="1"/>
                <p:nvPr/>
              </p:nvSpPr>
              <p:spPr>
                <a:xfrm>
                  <a:off x="1035877" y="2903043"/>
                  <a:ext cx="1390062" cy="2429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DGS10</a:t>
                  </a:r>
                </a:p>
              </p:txBody>
            </p:sp>
          </p:grp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05576E6A-DD56-E804-7DDA-099D50B7FC57}"/>
                  </a:ext>
                </a:extLst>
              </p:cNvPr>
              <p:cNvGrpSpPr/>
              <p:nvPr/>
            </p:nvGrpSpPr>
            <p:grpSpPr>
              <a:xfrm>
                <a:off x="6312618" y="1892525"/>
                <a:ext cx="1647577" cy="1976086"/>
                <a:chOff x="1035877" y="1601163"/>
                <a:chExt cx="1390062" cy="1555220"/>
              </a:xfrm>
            </p:grpSpPr>
            <p:pic>
              <p:nvPicPr>
                <p:cNvPr id="5" name="Picture 2" descr="3+ Thousand Csv File Icon Royalty-Free Images, Stock Photos &amp; Pictures |  Shutterstock">
                  <a:extLst>
                    <a:ext uri="{FF2B5EF4-FFF2-40B4-BE49-F238E27FC236}">
                      <a16:creationId xmlns:a16="http://schemas.microsoft.com/office/drawing/2014/main" id="{79AAA728-1048-1B5B-4604-D395F8B3F62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1992" t="9043" r="18736" b="11111"/>
                <a:stretch/>
              </p:blipFill>
              <p:spPr bwMode="auto">
                <a:xfrm>
                  <a:off x="1114097" y="1601163"/>
                  <a:ext cx="1093075" cy="125993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FD4D66A-4A41-6060-591A-448E7332B588}"/>
                    </a:ext>
                  </a:extLst>
                </p:cNvPr>
                <p:cNvSpPr txBox="1"/>
                <p:nvPr/>
              </p:nvSpPr>
              <p:spPr>
                <a:xfrm>
                  <a:off x="1035877" y="2913473"/>
                  <a:ext cx="1390062" cy="2429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CHINAPMI</a:t>
                  </a:r>
                </a:p>
              </p:txBody>
            </p:sp>
          </p:grpSp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75B78B9-3D3A-6DEE-EC1B-E55818EE7F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38261" y="598084"/>
              <a:ext cx="6756400" cy="10033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17555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26D6AE-351E-64A5-2A9D-E16427A78AC7}"/>
              </a:ext>
            </a:extLst>
          </p:cNvPr>
          <p:cNvSpPr txBox="1"/>
          <p:nvPr/>
        </p:nvSpPr>
        <p:spPr>
          <a:xfrm>
            <a:off x="341423" y="377691"/>
            <a:ext cx="104325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effectLst/>
                <a:latin typeface="Times New Roman" panose="02020603050405020304" pitchFamily="18" charset="0"/>
              </a:rPr>
              <a:t>Feature Engineering – Scaling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9A8565-5BBF-6445-6CDC-035491EC46CB}"/>
              </a:ext>
            </a:extLst>
          </p:cNvPr>
          <p:cNvSpPr txBox="1"/>
          <p:nvPr/>
        </p:nvSpPr>
        <p:spPr>
          <a:xfrm>
            <a:off x="513771" y="5627833"/>
            <a:ext cx="107138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effectLst/>
              </a:rPr>
              <a:t>Scaling = Standardization</a:t>
            </a:r>
          </a:p>
          <a:p>
            <a:pPr algn="ctr"/>
            <a:r>
              <a:rPr lang="en-US" sz="2400" b="1" dirty="0"/>
              <a:t>Standardization: All features on same scale → Fair importance</a:t>
            </a:r>
            <a:endParaRPr lang="en-US" sz="2400" dirty="0"/>
          </a:p>
        </p:txBody>
      </p:sp>
      <p:pic>
        <p:nvPicPr>
          <p:cNvPr id="12290" name="Picture 2" descr="All about Feature Scaling | Towards Data Science">
            <a:extLst>
              <a:ext uri="{FF2B5EF4-FFF2-40B4-BE49-F238E27FC236}">
                <a16:creationId xmlns:a16="http://schemas.microsoft.com/office/drawing/2014/main" id="{E72E6217-5E6F-CE41-E14F-2402D517A1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70" t="14932" r="22000" b="17937"/>
          <a:stretch/>
        </p:blipFill>
        <p:spPr bwMode="auto">
          <a:xfrm>
            <a:off x="3352802" y="1675633"/>
            <a:ext cx="4744278" cy="3506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4001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26D6AE-351E-64A5-2A9D-E16427A78AC7}"/>
              </a:ext>
            </a:extLst>
          </p:cNvPr>
          <p:cNvSpPr txBox="1"/>
          <p:nvPr/>
        </p:nvSpPr>
        <p:spPr>
          <a:xfrm>
            <a:off x="341423" y="377691"/>
            <a:ext cx="104325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effectLst/>
                <a:latin typeface="Times New Roman" panose="02020603050405020304" pitchFamily="18" charset="0"/>
              </a:rPr>
              <a:t>Feature Engineering – Creating Sequence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9A8565-5BBF-6445-6CDC-035491EC46CB}"/>
              </a:ext>
            </a:extLst>
          </p:cNvPr>
          <p:cNvSpPr txBox="1"/>
          <p:nvPr/>
        </p:nvSpPr>
        <p:spPr>
          <a:xfrm>
            <a:off x="513771" y="5627833"/>
            <a:ext cx="107138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effectLst/>
              </a:rPr>
              <a:t>create sequences where each input consists of the past 24 months of data</a:t>
            </a:r>
          </a:p>
          <a:p>
            <a:pPr algn="ctr"/>
            <a:r>
              <a:rPr lang="en-US" sz="2400" dirty="0"/>
              <a:t>to predict the next month's nickel price change.</a:t>
            </a:r>
          </a:p>
        </p:txBody>
      </p:sp>
      <p:pic>
        <p:nvPicPr>
          <p:cNvPr id="42" name="Picture 4" descr="A schematic diagram of a 3D array for LSTM">
            <a:extLst>
              <a:ext uri="{FF2B5EF4-FFF2-40B4-BE49-F238E27FC236}">
                <a16:creationId xmlns:a16="http://schemas.microsoft.com/office/drawing/2014/main" id="{3926BA2F-E6A1-9A06-20D0-E3A97C8B3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8846" y="1839832"/>
            <a:ext cx="7242857" cy="3178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3177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26D6AE-351E-64A5-2A9D-E16427A78AC7}"/>
              </a:ext>
            </a:extLst>
          </p:cNvPr>
          <p:cNvSpPr txBox="1"/>
          <p:nvPr/>
        </p:nvSpPr>
        <p:spPr>
          <a:xfrm>
            <a:off x="341423" y="377691"/>
            <a:ext cx="104325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dirty="0">
                <a:latin typeface="Times New Roman" panose="02020603050405020304" pitchFamily="18" charset="0"/>
              </a:rPr>
              <a:t>Model Development – Data Split</a:t>
            </a:r>
            <a:endParaRPr lang="en-US" sz="3600" b="1" i="0" dirty="0">
              <a:effectLst/>
              <a:latin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9A8565-5BBF-6445-6CDC-035491EC46CB}"/>
              </a:ext>
            </a:extLst>
          </p:cNvPr>
          <p:cNvSpPr txBox="1"/>
          <p:nvPr/>
        </p:nvSpPr>
        <p:spPr>
          <a:xfrm>
            <a:off x="513771" y="5627833"/>
            <a:ext cx="107138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First 80% of sequence = Training Set</a:t>
            </a:r>
          </a:p>
          <a:p>
            <a:pPr algn="ctr"/>
            <a:r>
              <a:rPr lang="en-US" sz="2400" dirty="0"/>
              <a:t>Remaining = Testing Set</a:t>
            </a:r>
          </a:p>
        </p:txBody>
      </p:sp>
      <p:pic>
        <p:nvPicPr>
          <p:cNvPr id="14338" name="Picture 2" descr="Time based splitting and determining if Train &amp; Test data come from the  same distribution | by Manraj Chalokia | Medium">
            <a:extLst>
              <a:ext uri="{FF2B5EF4-FFF2-40B4-BE49-F238E27FC236}">
                <a16:creationId xmlns:a16="http://schemas.microsoft.com/office/drawing/2014/main" id="{CCE7ACFA-78C4-3578-B0F4-FA15489FC7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769"/>
          <a:stretch/>
        </p:blipFill>
        <p:spPr bwMode="auto">
          <a:xfrm>
            <a:off x="2985496" y="2109952"/>
            <a:ext cx="5770433" cy="2638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5896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26D6AE-351E-64A5-2A9D-E16427A78AC7}"/>
              </a:ext>
            </a:extLst>
          </p:cNvPr>
          <p:cNvSpPr txBox="1"/>
          <p:nvPr/>
        </p:nvSpPr>
        <p:spPr>
          <a:xfrm>
            <a:off x="341423" y="377691"/>
            <a:ext cx="104325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dirty="0">
                <a:latin typeface="Times New Roman" panose="02020603050405020304" pitchFamily="18" charset="0"/>
              </a:rPr>
              <a:t>Model Development – Build</a:t>
            </a:r>
            <a:endParaRPr lang="en-US" sz="3600" b="1" i="0" dirty="0">
              <a:effectLst/>
              <a:latin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9A8565-5BBF-6445-6CDC-035491EC46CB}"/>
              </a:ext>
            </a:extLst>
          </p:cNvPr>
          <p:cNvSpPr txBox="1"/>
          <p:nvPr/>
        </p:nvSpPr>
        <p:spPr>
          <a:xfrm>
            <a:off x="850979" y="5418479"/>
            <a:ext cx="109270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Input</a:t>
            </a:r>
            <a:r>
              <a:rPr lang="en-US" sz="2400" dirty="0"/>
              <a:t>: 24 months × 8 features                </a:t>
            </a:r>
            <a:r>
              <a:rPr lang="en-US" sz="2400" b="1" dirty="0"/>
              <a:t>LSTM</a:t>
            </a:r>
            <a:r>
              <a:rPr lang="en-US" sz="2400" dirty="0"/>
              <a:t>: 32 units → Learn time patterns</a:t>
            </a:r>
          </a:p>
          <a:p>
            <a:r>
              <a:rPr lang="en-US" sz="2400" b="1" dirty="0"/>
              <a:t>Dropout</a:t>
            </a:r>
            <a:r>
              <a:rPr lang="en-US" sz="2400" dirty="0"/>
              <a:t>: 20% → Prevent overfitting    </a:t>
            </a:r>
            <a:r>
              <a:rPr lang="en-US" sz="2400" b="1" dirty="0"/>
              <a:t>Output</a:t>
            </a:r>
            <a:r>
              <a:rPr lang="en-US" sz="2400" dirty="0"/>
              <a:t>: 1 value → Next month's price change</a:t>
            </a:r>
          </a:p>
        </p:txBody>
      </p:sp>
      <p:pic>
        <p:nvPicPr>
          <p:cNvPr id="15362" name="Picture 2" descr="Introduction to LSTM Units in RNN | Online Courses, Learning Paths, and  Certifications - Pluralsight">
            <a:extLst>
              <a:ext uri="{FF2B5EF4-FFF2-40B4-BE49-F238E27FC236}">
                <a16:creationId xmlns:a16="http://schemas.microsoft.com/office/drawing/2014/main" id="{BACF2751-3FC9-1B65-A85C-7BC307C9B4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559"/>
          <a:stretch/>
        </p:blipFill>
        <p:spPr bwMode="auto">
          <a:xfrm>
            <a:off x="1029189" y="1494124"/>
            <a:ext cx="2279050" cy="1934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ntroduction to LSTM Units in RNN | Online Courses, Learning Paths, and  Certifications - Pluralsight">
            <a:extLst>
              <a:ext uri="{FF2B5EF4-FFF2-40B4-BE49-F238E27FC236}">
                <a16:creationId xmlns:a16="http://schemas.microsoft.com/office/drawing/2014/main" id="{CF5495E2-5E88-031A-35B4-21E2E3EDC8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559"/>
          <a:stretch/>
        </p:blipFill>
        <p:spPr bwMode="auto">
          <a:xfrm>
            <a:off x="3308239" y="1494124"/>
            <a:ext cx="2279050" cy="1934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Introduction to LSTM Units in RNN | Online Courses, Learning Paths, and  Certifications - Pluralsight">
            <a:extLst>
              <a:ext uri="{FF2B5EF4-FFF2-40B4-BE49-F238E27FC236}">
                <a16:creationId xmlns:a16="http://schemas.microsoft.com/office/drawing/2014/main" id="{072C9AEF-EB2E-E195-F2CB-DD7F1CC21C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559"/>
          <a:stretch/>
        </p:blipFill>
        <p:spPr bwMode="auto">
          <a:xfrm>
            <a:off x="6932070" y="1494124"/>
            <a:ext cx="2279050" cy="1934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D85AA3-E523-D098-D6C2-23A0B63292C8}"/>
              </a:ext>
            </a:extLst>
          </p:cNvPr>
          <p:cNvSpPr txBox="1"/>
          <p:nvPr/>
        </p:nvSpPr>
        <p:spPr>
          <a:xfrm>
            <a:off x="6024254" y="2044006"/>
            <a:ext cx="5804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...</a:t>
            </a:r>
            <a:endParaRPr lang="en-US" sz="2400" dirty="0"/>
          </a:p>
        </p:txBody>
      </p:sp>
      <p:pic>
        <p:nvPicPr>
          <p:cNvPr id="15364" name="Picture 4" descr="Range (Statistics) | Calculating, Examples, Histograms">
            <a:extLst>
              <a:ext uri="{FF2B5EF4-FFF2-40B4-BE49-F238E27FC236}">
                <a16:creationId xmlns:a16="http://schemas.microsoft.com/office/drawing/2014/main" id="{5741C7B3-A2E6-9797-E28C-310A17792A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59" t="60012" r="24347" b="9695"/>
          <a:stretch/>
        </p:blipFill>
        <p:spPr bwMode="auto">
          <a:xfrm>
            <a:off x="2267696" y="3429000"/>
            <a:ext cx="5546361" cy="136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B8A3620-C65C-F71C-F89F-3D037DE4F3D5}"/>
              </a:ext>
            </a:extLst>
          </p:cNvPr>
          <p:cNvSpPr/>
          <p:nvPr/>
        </p:nvSpPr>
        <p:spPr>
          <a:xfrm>
            <a:off x="4074442" y="4215982"/>
            <a:ext cx="1906291" cy="707886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 Units</a:t>
            </a:r>
          </a:p>
        </p:txBody>
      </p:sp>
    </p:spTree>
    <p:extLst>
      <p:ext uri="{BB962C8B-B14F-4D97-AF65-F5344CB8AC3E}">
        <p14:creationId xmlns:p14="http://schemas.microsoft.com/office/powerpoint/2010/main" val="713014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26D6AE-351E-64A5-2A9D-E16427A78AC7}"/>
              </a:ext>
            </a:extLst>
          </p:cNvPr>
          <p:cNvSpPr txBox="1"/>
          <p:nvPr/>
        </p:nvSpPr>
        <p:spPr>
          <a:xfrm>
            <a:off x="341423" y="377691"/>
            <a:ext cx="104325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dirty="0">
                <a:latin typeface="Times New Roman" panose="02020603050405020304" pitchFamily="18" charset="0"/>
              </a:rPr>
              <a:t>Model Development – </a:t>
            </a:r>
            <a:r>
              <a:rPr lang="en-US" altLang="ko-KR" sz="3600" b="1" dirty="0">
                <a:latin typeface="Times New Roman" panose="02020603050405020304" pitchFamily="18" charset="0"/>
              </a:rPr>
              <a:t>Model Training</a:t>
            </a:r>
            <a:endParaRPr lang="en-US" sz="3600" b="1" i="0" dirty="0">
              <a:effectLst/>
              <a:latin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9A8565-5BBF-6445-6CDC-035491EC46CB}"/>
              </a:ext>
            </a:extLst>
          </p:cNvPr>
          <p:cNvSpPr txBox="1"/>
          <p:nvPr/>
        </p:nvSpPr>
        <p:spPr>
          <a:xfrm>
            <a:off x="134911" y="5403488"/>
            <a:ext cx="122469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Max 300 epochs</a:t>
            </a:r>
            <a:r>
              <a:rPr lang="en-US" sz="2400" dirty="0"/>
              <a:t> (stop early if no improvement) </a:t>
            </a:r>
            <a:r>
              <a:rPr lang="en-US" sz="2400" b="1" dirty="0"/>
              <a:t>Batch size 48</a:t>
            </a:r>
            <a:r>
              <a:rPr lang="en-US" sz="2400" dirty="0"/>
              <a:t> (update weights every 48 samples)</a:t>
            </a:r>
          </a:p>
          <a:p>
            <a:r>
              <a:rPr lang="en-US" sz="2400" b="1" dirty="0"/>
              <a:t>Early stopping</a:t>
            </a:r>
            <a:r>
              <a:rPr lang="en-US" sz="2400" dirty="0"/>
              <a:t> (patience 20) → Prevent overfitting </a:t>
            </a:r>
            <a:r>
              <a:rPr lang="en-US" sz="2400" b="1" dirty="0"/>
              <a:t>Monitor validation loss</a:t>
            </a:r>
            <a:r>
              <a:rPr lang="en-US" sz="2400" dirty="0"/>
              <a:t> → Save best model</a:t>
            </a:r>
          </a:p>
        </p:txBody>
      </p:sp>
      <p:pic>
        <p:nvPicPr>
          <p:cNvPr id="16386" name="Picture 2" descr="How to perform Hyperparameter Tuning for LSTM Time Series Forecasting | by  Seyed Mousavi | GoPenAI">
            <a:extLst>
              <a:ext uri="{FF2B5EF4-FFF2-40B4-BE49-F238E27FC236}">
                <a16:creationId xmlns:a16="http://schemas.microsoft.com/office/drawing/2014/main" id="{AB5B4351-8CBA-B050-5D58-4770630797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79"/>
          <a:stretch/>
        </p:blipFill>
        <p:spPr bwMode="auto">
          <a:xfrm>
            <a:off x="3401934" y="1435547"/>
            <a:ext cx="5388131" cy="3556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1841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26D6AE-351E-64A5-2A9D-E16427A78AC7}"/>
              </a:ext>
            </a:extLst>
          </p:cNvPr>
          <p:cNvSpPr txBox="1"/>
          <p:nvPr/>
        </p:nvSpPr>
        <p:spPr>
          <a:xfrm>
            <a:off x="341423" y="377691"/>
            <a:ext cx="104325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dirty="0">
                <a:latin typeface="Times New Roman" panose="02020603050405020304" pitchFamily="18" charset="0"/>
              </a:rPr>
              <a:t>Model Validation</a:t>
            </a:r>
            <a:endParaRPr lang="en-US" sz="3600" b="1" i="0" dirty="0">
              <a:effectLst/>
              <a:latin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A77CB9-A732-82F7-08E4-CA13E7DEE1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5027"/>
          <a:stretch/>
        </p:blipFill>
        <p:spPr>
          <a:xfrm>
            <a:off x="1835605" y="1823802"/>
            <a:ext cx="5103034" cy="23984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4E0F996-AE16-5976-55DB-AB10A0F710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559"/>
          <a:stretch/>
        </p:blipFill>
        <p:spPr>
          <a:xfrm>
            <a:off x="6096000" y="881920"/>
            <a:ext cx="5103034" cy="42821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A5CB0F-4857-0CAC-D9D0-D646E6D08C75}"/>
              </a:ext>
            </a:extLst>
          </p:cNvPr>
          <p:cNvSpPr txBox="1"/>
          <p:nvPr/>
        </p:nvSpPr>
        <p:spPr>
          <a:xfrm>
            <a:off x="1384582" y="5256110"/>
            <a:ext cx="98144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RMSE</a:t>
            </a:r>
            <a:r>
              <a:rPr lang="en-US" sz="2400" dirty="0"/>
              <a:t> (Root Mean Squared Error): Average prediction error in dollars</a:t>
            </a:r>
          </a:p>
          <a:p>
            <a:r>
              <a:rPr lang="en-US" sz="2400" b="1" dirty="0"/>
              <a:t>MAE</a:t>
            </a:r>
            <a:r>
              <a:rPr lang="en-US" sz="2400" dirty="0"/>
              <a:t> (Mean Absolute Error): Average Absolute Error in dollars</a:t>
            </a:r>
          </a:p>
          <a:p>
            <a:r>
              <a:rPr lang="en-US" sz="2400" b="1" dirty="0"/>
              <a:t>MAPE</a:t>
            </a:r>
            <a:r>
              <a:rPr lang="en-US" sz="2400" dirty="0"/>
              <a:t> (Mean Absolute Percentage Error): Average Error in %</a:t>
            </a:r>
          </a:p>
        </p:txBody>
      </p:sp>
    </p:spTree>
    <p:extLst>
      <p:ext uri="{BB962C8B-B14F-4D97-AF65-F5344CB8AC3E}">
        <p14:creationId xmlns:p14="http://schemas.microsoft.com/office/powerpoint/2010/main" val="21729013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26D6AE-351E-64A5-2A9D-E16427A78AC7}"/>
              </a:ext>
            </a:extLst>
          </p:cNvPr>
          <p:cNvSpPr txBox="1"/>
          <p:nvPr/>
        </p:nvSpPr>
        <p:spPr>
          <a:xfrm>
            <a:off x="341423" y="377691"/>
            <a:ext cx="104325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dirty="0">
                <a:latin typeface="Times New Roman" panose="02020603050405020304" pitchFamily="18" charset="0"/>
              </a:rPr>
              <a:t>Model Validation - Visualization</a:t>
            </a:r>
            <a:endParaRPr lang="en-US" sz="3600" b="1" i="0" dirty="0">
              <a:effectLst/>
              <a:latin typeface="Times New Roman" panose="02020603050405020304" pitchFamily="18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2BFE600-8B98-800F-0D7E-B4BC9FE0889B}"/>
              </a:ext>
            </a:extLst>
          </p:cNvPr>
          <p:cNvGrpSpPr/>
          <p:nvPr/>
        </p:nvGrpSpPr>
        <p:grpSpPr>
          <a:xfrm>
            <a:off x="2218036" y="1377565"/>
            <a:ext cx="6679367" cy="4845255"/>
            <a:chOff x="1939978" y="1366413"/>
            <a:chExt cx="6679367" cy="484525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D560D3D-B8F2-4009-3CC4-10B1AA8B17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39978" y="1366413"/>
              <a:ext cx="6679367" cy="484525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DF0FB94-19DB-8C4A-295C-30C89BAEC8DC}"/>
                </a:ext>
              </a:extLst>
            </p:cNvPr>
            <p:cNvSpPr/>
            <p:nvPr/>
          </p:nvSpPr>
          <p:spPr>
            <a:xfrm>
              <a:off x="5354547" y="4558629"/>
              <a:ext cx="1482906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Tariff?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94204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26D6AE-351E-64A5-2A9D-E16427A78AC7}"/>
              </a:ext>
            </a:extLst>
          </p:cNvPr>
          <p:cNvSpPr txBox="1"/>
          <p:nvPr/>
        </p:nvSpPr>
        <p:spPr>
          <a:xfrm>
            <a:off x="341423" y="377691"/>
            <a:ext cx="104325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dirty="0">
                <a:latin typeface="Times New Roman" panose="02020603050405020304" pitchFamily="18" charset="0"/>
              </a:rPr>
              <a:t>Model Validation – Feature Importance</a:t>
            </a:r>
            <a:endParaRPr lang="en-US" sz="3600" b="1" i="0" dirty="0">
              <a:effectLst/>
              <a:latin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7A6887-9525-FFB9-4514-D1362F70E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09473"/>
            <a:ext cx="7772400" cy="477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111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26D6AE-351E-64A5-2A9D-E16427A78AC7}"/>
              </a:ext>
            </a:extLst>
          </p:cNvPr>
          <p:cNvSpPr txBox="1"/>
          <p:nvPr/>
        </p:nvSpPr>
        <p:spPr>
          <a:xfrm>
            <a:off x="341423" y="377691"/>
            <a:ext cx="104325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dirty="0">
                <a:latin typeface="Times New Roman" panose="02020603050405020304" pitchFamily="18" charset="0"/>
              </a:rPr>
              <a:t>Conclusion</a:t>
            </a:r>
            <a:endParaRPr lang="en-US" sz="3600" b="1" i="0" dirty="0">
              <a:effectLst/>
              <a:latin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C1507B-3E01-9665-7665-5342E7005106}"/>
              </a:ext>
            </a:extLst>
          </p:cNvPr>
          <p:cNvSpPr txBox="1"/>
          <p:nvPr/>
        </p:nvSpPr>
        <p:spPr>
          <a:xfrm>
            <a:off x="3046142" y="1845747"/>
            <a:ext cx="609971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Model Performance: </a:t>
            </a:r>
          </a:p>
          <a:p>
            <a:r>
              <a:rPr lang="en-US" dirty="0"/>
              <a:t>MAPE of 6-7% (best: 5.85%) This represents an average prediction error of approximately 6-7% relative to actual nickel prices</a:t>
            </a:r>
          </a:p>
          <a:p>
            <a:endParaRPr lang="en-US" dirty="0"/>
          </a:p>
          <a:p>
            <a:r>
              <a:rPr lang="en-US" b="1" dirty="0"/>
              <a:t>Limitation</a:t>
            </a:r>
            <a:r>
              <a:rPr lang="en-US" dirty="0"/>
              <a:t>:</a:t>
            </a:r>
          </a:p>
          <a:p>
            <a:r>
              <a:rPr lang="en-US" dirty="0"/>
              <a:t>The model's performance could be affected by sudden market shocks or unprecedented events (Tariff)</a:t>
            </a:r>
          </a:p>
          <a:p>
            <a:endParaRPr lang="en-US" dirty="0"/>
          </a:p>
          <a:p>
            <a:r>
              <a:rPr lang="en-US" dirty="0"/>
              <a:t>This model provides a practical tool for manufacturers to anticipate nickel price movements and make informed purchasing decisions, potentially reducing cost volatility in EV production.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331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480</Words>
  <Application>Microsoft Macintosh PowerPoint</Application>
  <PresentationFormat>Widescreen</PresentationFormat>
  <Paragraphs>77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JOO HO KIM</dc:creator>
  <cp:lastModifiedBy>JOO HO KIM</cp:lastModifiedBy>
  <cp:revision>221</cp:revision>
  <dcterms:created xsi:type="dcterms:W3CDTF">2025-10-09T22:35:55Z</dcterms:created>
  <dcterms:modified xsi:type="dcterms:W3CDTF">2026-04-06T22:46:13Z</dcterms:modified>
</cp:coreProperties>
</file>